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ilk Tea Font TH Bold" charset="1" panose="02000503000000000000"/>
      <p:regular r:id="rId19"/>
    </p:embeddedFont>
    <p:embeddedFont>
      <p:font typeface="Comic Sans Bold" charset="1" panose="03000902030302020204"/>
      <p:regular r:id="rId20"/>
    </p:embeddedFont>
    <p:embeddedFont>
      <p:font typeface="Comic Sans" charset="1" panose="03000702030302020204"/>
      <p:regular r:id="rId21"/>
    </p:embeddedFont>
    <p:embeddedFont>
      <p:font typeface="Canva Sans Bold" charset="1" panose="020B0803030501040103"/>
      <p:regular r:id="rId28"/>
    </p:embeddedFont>
    <p:embeddedFont>
      <p:font typeface="Canva Sans" charset="1" panose="020B05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 with the hook: every time two local processes talk through a pipe or socket, the data gets copied through the kernel. We removed that step. Introduce the team and the one-line promise: stop copying data, start sharing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Pipes, sockets and message queues all push data through the kernel: one copy in, one copy out, plus system calls on every message. That is fine for small, rare messages, but it becomes the bottleneck as payload size and message rate grow.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Pipes, sockets and message queues all push data through the kernel: one copy in, one copy out, plus system calls on every message. That is fine for small, rare messages, but it becomes the bottleneck as payload size and message rate grow.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core idea: map the same region of memory into both processes. Data is written once and read in place. We built it on POSIX shared memory with semaphores, and the three features at the bottom are what make it usable: a ring buffer for streaming, safe concurrent access, and clean teardown.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left to right. The producer creates and initializes the segment, the consumer attaches to it. In the middle is the shared region: a ring buffer plus three semaphores (empty, full, mutex). The kernel only sets up the mapping at the start. Tech stack: C, POSIX shared memory and process-shared semaphores on Linux.</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classic bounded-buffer pattern. Producer waits on 'empty', takes the mutex, writes and advances the in index, releases the mutex and posts 'full'. The consumer mirrors that with 'full' and 'empty'. The ring buffer below shows in and out chasing each other around the slots.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chart shows the structural difference: pipes, sockets and message queues copy each message through the kernel, shared memory does not. For the live talk, add your own measured throughput and latency results for pipe vs Unix socket vs shared memory at 64 B, 4 KB and 1 MB, and show the gap widening with message size.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directions. Scale: multiple producers and consumers, and a lock-free ring buffer. Harden: crash recovery, detecting stale segments, permissions and validation. Extend: two-way exchange and language bindings so other teams can adopt it easily.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things to remember: shared memory is the fastest local IPC, synchronization is what makes it safe, and we have a working implementation.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Prepared answers. Threads: processes give isolation and independent lifecycles or languages. Crash mid-write: the mutex could be left held, so a future version adds recovery and robust synchronization. Versus sockets or file-backed mmap: shared memory skips the kernel copy; file-backed mmap adds file semantics you don't need here.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notesSlides/notesSlide8.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Freeform 2" id="2"/>
          <p:cNvSpPr/>
          <p:nvPr/>
        </p:nvSpPr>
        <p:spPr>
          <a:xfrm flipH="false" flipV="false" rot="-561300">
            <a:off x="11109760" y="4116210"/>
            <a:ext cx="3585629" cy="3109722"/>
          </a:xfrm>
          <a:custGeom>
            <a:avLst/>
            <a:gdLst/>
            <a:ahLst/>
            <a:cxnLst/>
            <a:rect r="r" b="b" t="t" l="l"/>
            <a:pathLst>
              <a:path h="3109722" w="3585629">
                <a:moveTo>
                  <a:pt x="0" y="0"/>
                </a:moveTo>
                <a:lnTo>
                  <a:pt x="3585629" y="0"/>
                </a:lnTo>
                <a:lnTo>
                  <a:pt x="3585629" y="3109722"/>
                </a:lnTo>
                <a:lnTo>
                  <a:pt x="0" y="3109722"/>
                </a:lnTo>
                <a:lnTo>
                  <a:pt x="0" y="0"/>
                </a:lnTo>
                <a:close/>
              </a:path>
            </a:pathLst>
          </a:custGeom>
          <a:blipFill>
            <a:blip r:embed="rId3">
              <a:extLst>
                <a:ext uri="{96DAC541-7B7A-43D3-8B79-37D633B846F1}">
                  <asvg:svgBlip xmlns:asvg="http://schemas.microsoft.com/office/drawing/2016/SVG/main" r:embed="rId4"/>
                </a:ext>
              </a:extLst>
            </a:blip>
            <a:stretch>
              <a:fillRect l="0" t="-5" r="0" b="-5"/>
            </a:stretch>
          </a:blipFill>
        </p:spPr>
      </p:sp>
      <p:sp>
        <p:nvSpPr>
          <p:cNvPr name="Freeform 3" id="3"/>
          <p:cNvSpPr/>
          <p:nvPr/>
        </p:nvSpPr>
        <p:spPr>
          <a:xfrm flipH="false" flipV="false" rot="0">
            <a:off x="9600790" y="240230"/>
            <a:ext cx="3301794" cy="3350524"/>
          </a:xfrm>
          <a:custGeom>
            <a:avLst/>
            <a:gdLst/>
            <a:ahLst/>
            <a:cxnLst/>
            <a:rect r="r" b="b" t="t" l="l"/>
            <a:pathLst>
              <a:path h="3350524" w="3301794">
                <a:moveTo>
                  <a:pt x="0" y="0"/>
                </a:moveTo>
                <a:lnTo>
                  <a:pt x="3301794" y="0"/>
                </a:lnTo>
                <a:lnTo>
                  <a:pt x="3301794" y="3350524"/>
                </a:lnTo>
                <a:lnTo>
                  <a:pt x="0" y="3350524"/>
                </a:lnTo>
                <a:lnTo>
                  <a:pt x="0" y="0"/>
                </a:lnTo>
                <a:close/>
              </a:path>
            </a:pathLst>
          </a:custGeom>
          <a:blipFill>
            <a:blip r:embed="rId5">
              <a:extLst>
                <a:ext uri="{96DAC541-7B7A-43D3-8B79-37D633B846F1}">
                  <asvg:svgBlip xmlns:asvg="http://schemas.microsoft.com/office/drawing/2016/SVG/main" r:embed="rId6"/>
                </a:ext>
              </a:extLst>
            </a:blip>
            <a:stretch>
              <a:fillRect l="0" t="-266" r="0" b="-266"/>
            </a:stretch>
          </a:blipFill>
        </p:spPr>
      </p:sp>
      <p:sp>
        <p:nvSpPr>
          <p:cNvPr name="Freeform 4" id="4"/>
          <p:cNvSpPr/>
          <p:nvPr/>
        </p:nvSpPr>
        <p:spPr>
          <a:xfrm flipH="false" flipV="false" rot="-4908660">
            <a:off x="15095639" y="3039770"/>
            <a:ext cx="5228634" cy="3412874"/>
          </a:xfrm>
          <a:custGeom>
            <a:avLst/>
            <a:gdLst/>
            <a:ahLst/>
            <a:cxnLst/>
            <a:rect r="r" b="b" t="t" l="l"/>
            <a:pathLst>
              <a:path h="3412874" w="5228634">
                <a:moveTo>
                  <a:pt x="0" y="0"/>
                </a:moveTo>
                <a:lnTo>
                  <a:pt x="5228635" y="0"/>
                </a:lnTo>
                <a:lnTo>
                  <a:pt x="5228635" y="3412875"/>
                </a:lnTo>
                <a:lnTo>
                  <a:pt x="0" y="3412875"/>
                </a:lnTo>
                <a:lnTo>
                  <a:pt x="0" y="0"/>
                </a:lnTo>
                <a:close/>
              </a:path>
            </a:pathLst>
          </a:custGeom>
          <a:blipFill>
            <a:blip r:embed="rId7">
              <a:extLst>
                <a:ext uri="{96DAC541-7B7A-43D3-8B79-37D633B846F1}">
                  <asvg:svgBlip xmlns:asvg="http://schemas.microsoft.com/office/drawing/2016/SVG/main" r:embed="rId8"/>
                </a:ext>
              </a:extLst>
            </a:blip>
            <a:stretch>
              <a:fillRect l="0" t="-90" r="0" b="-90"/>
            </a:stretch>
          </a:blipFill>
        </p:spPr>
      </p:sp>
      <p:sp>
        <p:nvSpPr>
          <p:cNvPr name="Freeform 5" id="5"/>
          <p:cNvSpPr/>
          <p:nvPr/>
        </p:nvSpPr>
        <p:spPr>
          <a:xfrm flipH="false" flipV="false" rot="0">
            <a:off x="14256229" y="1585493"/>
            <a:ext cx="3453717" cy="2919965"/>
          </a:xfrm>
          <a:custGeom>
            <a:avLst/>
            <a:gdLst/>
            <a:ahLst/>
            <a:cxnLst/>
            <a:rect r="r" b="b" t="t" l="l"/>
            <a:pathLst>
              <a:path h="2919965" w="3453717">
                <a:moveTo>
                  <a:pt x="0" y="0"/>
                </a:moveTo>
                <a:lnTo>
                  <a:pt x="3453718" y="0"/>
                </a:lnTo>
                <a:lnTo>
                  <a:pt x="3453718" y="2919965"/>
                </a:lnTo>
                <a:lnTo>
                  <a:pt x="0" y="2919965"/>
                </a:lnTo>
                <a:lnTo>
                  <a:pt x="0" y="0"/>
                </a:lnTo>
                <a:close/>
              </a:path>
            </a:pathLst>
          </a:custGeom>
          <a:blipFill>
            <a:blip r:embed="rId9">
              <a:extLst>
                <a:ext uri="{96DAC541-7B7A-43D3-8B79-37D633B846F1}">
                  <asvg:svgBlip xmlns:asvg="http://schemas.microsoft.com/office/drawing/2016/SVG/main" r:embed="rId10"/>
                </a:ext>
              </a:extLst>
            </a:blip>
            <a:stretch>
              <a:fillRect l="0" t="-342" r="0" b="-342"/>
            </a:stretch>
          </a:blipFill>
        </p:spPr>
      </p:sp>
      <p:sp>
        <p:nvSpPr>
          <p:cNvPr name="Freeform 6" id="6"/>
          <p:cNvSpPr/>
          <p:nvPr/>
        </p:nvSpPr>
        <p:spPr>
          <a:xfrm flipH="false" flipV="false" rot="808500">
            <a:off x="14256229" y="6451359"/>
            <a:ext cx="3453717" cy="3466328"/>
          </a:xfrm>
          <a:custGeom>
            <a:avLst/>
            <a:gdLst/>
            <a:ahLst/>
            <a:cxnLst/>
            <a:rect r="r" b="b" t="t" l="l"/>
            <a:pathLst>
              <a:path h="3466328" w="3453717">
                <a:moveTo>
                  <a:pt x="0" y="0"/>
                </a:moveTo>
                <a:lnTo>
                  <a:pt x="3453718" y="0"/>
                </a:lnTo>
                <a:lnTo>
                  <a:pt x="3453718" y="3466328"/>
                </a:lnTo>
                <a:lnTo>
                  <a:pt x="0" y="3466328"/>
                </a:lnTo>
                <a:lnTo>
                  <a:pt x="0" y="0"/>
                </a:lnTo>
                <a:close/>
              </a:path>
            </a:pathLst>
          </a:custGeom>
          <a:blipFill>
            <a:blip r:embed="rId11">
              <a:extLst>
                <a:ext uri="{96DAC541-7B7A-43D3-8B79-37D633B846F1}">
                  <asvg:svgBlip xmlns:asvg="http://schemas.microsoft.com/office/drawing/2016/SVG/main" r:embed="rId12"/>
                </a:ext>
              </a:extLst>
            </a:blip>
            <a:stretch>
              <a:fillRect l="-182" t="0" r="-182" b="0"/>
            </a:stretch>
          </a:blipFill>
        </p:spPr>
      </p:sp>
      <p:sp>
        <p:nvSpPr>
          <p:cNvPr name="Freeform 7" id="7"/>
          <p:cNvSpPr/>
          <p:nvPr/>
        </p:nvSpPr>
        <p:spPr>
          <a:xfrm flipH="false" flipV="false" rot="-1327020">
            <a:off x="8792623" y="6976291"/>
            <a:ext cx="2925280" cy="3724313"/>
          </a:xfrm>
          <a:custGeom>
            <a:avLst/>
            <a:gdLst/>
            <a:ahLst/>
            <a:cxnLst/>
            <a:rect r="r" b="b" t="t" l="l"/>
            <a:pathLst>
              <a:path h="3724313" w="2925280">
                <a:moveTo>
                  <a:pt x="0" y="0"/>
                </a:moveTo>
                <a:lnTo>
                  <a:pt x="2925280" y="0"/>
                </a:lnTo>
                <a:lnTo>
                  <a:pt x="2925280" y="3724313"/>
                </a:lnTo>
                <a:lnTo>
                  <a:pt x="0" y="3724313"/>
                </a:lnTo>
                <a:lnTo>
                  <a:pt x="0" y="0"/>
                </a:lnTo>
                <a:close/>
              </a:path>
            </a:pathLst>
          </a:custGeom>
          <a:blipFill>
            <a:blip r:embed="rId13">
              <a:extLst>
                <a:ext uri="{96DAC541-7B7A-43D3-8B79-37D633B846F1}">
                  <asvg:svgBlip xmlns:asvg="http://schemas.microsoft.com/office/drawing/2016/SVG/main" r:embed="rId14"/>
                </a:ext>
              </a:extLst>
            </a:blip>
            <a:stretch>
              <a:fillRect l="-16" t="0" r="-16" b="0"/>
            </a:stretch>
          </a:blipFill>
        </p:spPr>
      </p:sp>
      <p:sp>
        <p:nvSpPr>
          <p:cNvPr name="Freeform 8" id="8"/>
          <p:cNvSpPr/>
          <p:nvPr/>
        </p:nvSpPr>
        <p:spPr>
          <a:xfrm flipH="false" flipV="false" rot="0">
            <a:off x="-730239" y="6424851"/>
            <a:ext cx="9717329" cy="974646"/>
          </a:xfrm>
          <a:custGeom>
            <a:avLst/>
            <a:gdLst/>
            <a:ahLst/>
            <a:cxnLst/>
            <a:rect r="r" b="b" t="t" l="l"/>
            <a:pathLst>
              <a:path h="974646" w="9717329">
                <a:moveTo>
                  <a:pt x="0" y="0"/>
                </a:moveTo>
                <a:lnTo>
                  <a:pt x="9717328" y="0"/>
                </a:lnTo>
                <a:lnTo>
                  <a:pt x="9717328" y="974645"/>
                </a:lnTo>
                <a:lnTo>
                  <a:pt x="0" y="9746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965040">
            <a:off x="4870454" y="8522236"/>
            <a:ext cx="4580620" cy="2989897"/>
          </a:xfrm>
          <a:custGeom>
            <a:avLst/>
            <a:gdLst/>
            <a:ahLst/>
            <a:cxnLst/>
            <a:rect r="r" b="b" t="t" l="l"/>
            <a:pathLst>
              <a:path h="2989897" w="4580620">
                <a:moveTo>
                  <a:pt x="0" y="0"/>
                </a:moveTo>
                <a:lnTo>
                  <a:pt x="4580620" y="0"/>
                </a:lnTo>
                <a:lnTo>
                  <a:pt x="4580620" y="2989897"/>
                </a:lnTo>
                <a:lnTo>
                  <a:pt x="0" y="2989897"/>
                </a:lnTo>
                <a:lnTo>
                  <a:pt x="0" y="0"/>
                </a:lnTo>
                <a:close/>
              </a:path>
            </a:pathLst>
          </a:custGeom>
          <a:blipFill>
            <a:blip r:embed="rId17">
              <a:extLst>
                <a:ext uri="{96DAC541-7B7A-43D3-8B79-37D633B846F1}">
                  <asvg:svgBlip xmlns:asvg="http://schemas.microsoft.com/office/drawing/2016/SVG/main" r:embed="rId18"/>
                </a:ext>
              </a:extLst>
            </a:blip>
            <a:stretch>
              <a:fillRect l="0" t="-165" r="0" b="-165"/>
            </a:stretch>
          </a:blipFill>
        </p:spPr>
      </p:sp>
      <p:sp>
        <p:nvSpPr>
          <p:cNvPr name="Freeform 10" id="10"/>
          <p:cNvSpPr/>
          <p:nvPr/>
        </p:nvSpPr>
        <p:spPr>
          <a:xfrm flipH="false" flipV="false" rot="0">
            <a:off x="0" y="0"/>
            <a:ext cx="5820112" cy="2182542"/>
          </a:xfrm>
          <a:custGeom>
            <a:avLst/>
            <a:gdLst/>
            <a:ahLst/>
            <a:cxnLst/>
            <a:rect r="r" b="b" t="t" l="l"/>
            <a:pathLst>
              <a:path h="2182542" w="5820112">
                <a:moveTo>
                  <a:pt x="0" y="0"/>
                </a:moveTo>
                <a:lnTo>
                  <a:pt x="5820112" y="0"/>
                </a:lnTo>
                <a:lnTo>
                  <a:pt x="5820112" y="2182542"/>
                </a:lnTo>
                <a:lnTo>
                  <a:pt x="0" y="2182542"/>
                </a:lnTo>
                <a:lnTo>
                  <a:pt x="0" y="0"/>
                </a:lnTo>
                <a:close/>
              </a:path>
            </a:pathLst>
          </a:custGeom>
          <a:blipFill>
            <a:blip r:embed="rId19"/>
            <a:stretch>
              <a:fillRect l="0" t="0" r="0" b="0"/>
            </a:stretch>
          </a:blipFill>
        </p:spPr>
      </p:sp>
      <p:sp>
        <p:nvSpPr>
          <p:cNvPr name="TextBox 11" id="11"/>
          <p:cNvSpPr txBox="true"/>
          <p:nvPr/>
        </p:nvSpPr>
        <p:spPr>
          <a:xfrm rot="0">
            <a:off x="1341187" y="2662476"/>
            <a:ext cx="8434407" cy="3286125"/>
          </a:xfrm>
          <a:prstGeom prst="rect">
            <a:avLst/>
          </a:prstGeom>
        </p:spPr>
        <p:txBody>
          <a:bodyPr anchor="t" rtlCol="false" tIns="0" lIns="0" bIns="0" rIns="0">
            <a:spAutoFit/>
          </a:bodyPr>
          <a:lstStyle/>
          <a:p>
            <a:pPr algn="l">
              <a:lnSpc>
                <a:spcPts val="8640"/>
              </a:lnSpc>
            </a:pPr>
            <a:r>
              <a:rPr lang="en-US" sz="7200" b="true">
                <a:solidFill>
                  <a:srgbClr val="144778"/>
                </a:solidFill>
                <a:latin typeface="Milk Tea Font TH Bold"/>
                <a:ea typeface="Milk Tea Font TH Bold"/>
                <a:cs typeface="Milk Tea Font TH Bold"/>
                <a:sym typeface="Milk Tea Font TH Bold"/>
              </a:rPr>
              <a:t>Shared Memory Data Exchange System</a:t>
            </a:r>
          </a:p>
        </p:txBody>
      </p:sp>
      <p:sp>
        <p:nvSpPr>
          <p:cNvPr name="TextBox 12" id="12"/>
          <p:cNvSpPr txBox="true"/>
          <p:nvPr/>
        </p:nvSpPr>
        <p:spPr>
          <a:xfrm rot="0">
            <a:off x="1364461" y="6696761"/>
            <a:ext cx="7589520" cy="450485"/>
          </a:xfrm>
          <a:prstGeom prst="rect">
            <a:avLst/>
          </a:prstGeom>
        </p:spPr>
        <p:txBody>
          <a:bodyPr anchor="t" rtlCol="false" tIns="0" lIns="0" bIns="0" rIns="0">
            <a:spAutoFit/>
          </a:bodyPr>
          <a:lstStyle/>
          <a:p>
            <a:pPr algn="ctr">
              <a:lnSpc>
                <a:spcPts val="3120"/>
              </a:lnSpc>
            </a:pPr>
            <a:r>
              <a:rPr lang="en-US" sz="2600" b="true">
                <a:solidFill>
                  <a:srgbClr val="144778"/>
                </a:solidFill>
                <a:latin typeface="Comic Sans Bold"/>
                <a:ea typeface="Comic Sans Bold"/>
                <a:cs typeface="Comic Sans Bold"/>
                <a:sym typeface="Comic Sans Bold"/>
              </a:rPr>
              <a:t>Stop copying data. Start sharing it.</a:t>
            </a:r>
          </a:p>
        </p:txBody>
      </p:sp>
      <p:sp>
        <p:nvSpPr>
          <p:cNvPr name="TextBox 13" id="13"/>
          <p:cNvSpPr txBox="true"/>
          <p:nvPr/>
        </p:nvSpPr>
        <p:spPr>
          <a:xfrm rot="0">
            <a:off x="150941" y="7927181"/>
            <a:ext cx="8993059" cy="2469125"/>
          </a:xfrm>
          <a:prstGeom prst="rect">
            <a:avLst/>
          </a:prstGeom>
        </p:spPr>
        <p:txBody>
          <a:bodyPr anchor="t" rtlCol="false" tIns="0" lIns="0" bIns="0" rIns="0">
            <a:spAutoFit/>
          </a:bodyPr>
          <a:lstStyle/>
          <a:p>
            <a:pPr algn="l">
              <a:lnSpc>
                <a:spcPts val="3265"/>
              </a:lnSpc>
            </a:pPr>
            <a:r>
              <a:rPr lang="en-US" sz="2473">
                <a:solidFill>
                  <a:srgbClr val="144778"/>
                </a:solidFill>
                <a:latin typeface="Comic Sans"/>
                <a:ea typeface="Comic Sans"/>
                <a:cs typeface="Comic Sans"/>
                <a:sym typeface="Comic Sans"/>
              </a:rPr>
              <a:t>2520090083-Sampati Varun Sridhar Reddy</a:t>
            </a:r>
          </a:p>
          <a:p>
            <a:pPr algn="l">
              <a:lnSpc>
                <a:spcPts val="3265"/>
              </a:lnSpc>
            </a:pPr>
            <a:r>
              <a:rPr lang="en-US" sz="2473">
                <a:solidFill>
                  <a:srgbClr val="144778"/>
                </a:solidFill>
                <a:latin typeface="Comic Sans"/>
                <a:ea typeface="Comic Sans"/>
                <a:cs typeface="Comic Sans"/>
                <a:sym typeface="Comic Sans"/>
              </a:rPr>
              <a:t>2520090075-B Guru Sai</a:t>
            </a:r>
          </a:p>
          <a:p>
            <a:pPr algn="l">
              <a:lnSpc>
                <a:spcPts val="3265"/>
              </a:lnSpc>
            </a:pPr>
            <a:r>
              <a:rPr lang="en-US" sz="2473">
                <a:solidFill>
                  <a:srgbClr val="144778"/>
                </a:solidFill>
                <a:latin typeface="Comic Sans"/>
                <a:ea typeface="Comic Sans"/>
                <a:cs typeface="Comic Sans"/>
                <a:sym typeface="Comic Sans"/>
              </a:rPr>
              <a:t>252008002-C.V Jaswanth Reddy</a:t>
            </a:r>
          </a:p>
          <a:p>
            <a:pPr algn="l">
              <a:lnSpc>
                <a:spcPts val="3265"/>
              </a:lnSpc>
            </a:pPr>
          </a:p>
          <a:p>
            <a:pPr algn="l">
              <a:lnSpc>
                <a:spcPts val="3265"/>
              </a:lnSpc>
            </a:pPr>
            <a:r>
              <a:rPr lang="en-US" sz="2473" b="true">
                <a:solidFill>
                  <a:srgbClr val="144778"/>
                </a:solidFill>
                <a:latin typeface="Comic Sans Bold"/>
                <a:ea typeface="Comic Sans Bold"/>
                <a:cs typeface="Comic Sans Bold"/>
                <a:sym typeface="Comic Sans Bold"/>
              </a:rPr>
              <a:t> TEAM-24</a:t>
            </a:r>
          </a:p>
          <a:p>
            <a:pPr algn="l">
              <a:lnSpc>
                <a:spcPts val="3265"/>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TextBox 2" id="2"/>
          <p:cNvSpPr txBox="true"/>
          <p:nvPr/>
        </p:nvSpPr>
        <p:spPr>
          <a:xfrm rot="0">
            <a:off x="1028700" y="1242260"/>
            <a:ext cx="13258800" cy="819150"/>
          </a:xfrm>
          <a:prstGeom prst="rect">
            <a:avLst/>
          </a:prstGeom>
        </p:spPr>
        <p:txBody>
          <a:bodyPr anchor="t" rtlCol="false" tIns="0" lIns="0" bIns="0" rIns="0">
            <a:spAutoFit/>
          </a:bodyPr>
          <a:lstStyle/>
          <a:p>
            <a:pPr algn="l">
              <a:lnSpc>
                <a:spcPts val="6480"/>
              </a:lnSpc>
            </a:pPr>
            <a:r>
              <a:rPr lang="en-US" sz="5400" b="true">
                <a:solidFill>
                  <a:srgbClr val="144778"/>
                </a:solidFill>
                <a:latin typeface="Milk Tea Font TH Bold"/>
                <a:ea typeface="Milk Tea Font TH Bold"/>
                <a:cs typeface="Milk Tea Font TH Bold"/>
                <a:sym typeface="Milk Tea Font TH Bold"/>
              </a:rPr>
              <a:t>Introduction</a:t>
            </a:r>
          </a:p>
        </p:txBody>
      </p:sp>
      <p:sp>
        <p:nvSpPr>
          <p:cNvPr name="Freeform 3" id="3"/>
          <p:cNvSpPr/>
          <p:nvPr/>
        </p:nvSpPr>
        <p:spPr>
          <a:xfrm flipH="false" flipV="false" rot="-2248140">
            <a:off x="14996160" y="8686800"/>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4" id="4"/>
          <p:cNvSpPr/>
          <p:nvPr/>
        </p:nvSpPr>
        <p:spPr>
          <a:xfrm flipH="false" flipV="false" rot="9607080">
            <a:off x="12252960" y="-1554480"/>
            <a:ext cx="5226996" cy="3411807"/>
          </a:xfrm>
          <a:custGeom>
            <a:avLst/>
            <a:gdLst/>
            <a:ahLst/>
            <a:cxnLst/>
            <a:rect r="r" b="b" t="t" l="l"/>
            <a:pathLst>
              <a:path h="3411807" w="5226996">
                <a:moveTo>
                  <a:pt x="0" y="0"/>
                </a:moveTo>
                <a:lnTo>
                  <a:pt x="5226996" y="0"/>
                </a:lnTo>
                <a:lnTo>
                  <a:pt x="5226996" y="3411807"/>
                </a:lnTo>
                <a:lnTo>
                  <a:pt x="0" y="3411807"/>
                </a:lnTo>
                <a:lnTo>
                  <a:pt x="0" y="0"/>
                </a:lnTo>
                <a:close/>
              </a:path>
            </a:pathLst>
          </a:custGeom>
          <a:blipFill>
            <a:blip r:embed="rId5">
              <a:extLst>
                <a:ext uri="{96DAC541-7B7A-43D3-8B79-37D633B846F1}">
                  <asvg:svgBlip xmlns:asvg="http://schemas.microsoft.com/office/drawing/2016/SVG/main" r:embed="rId6"/>
                </a:ext>
              </a:extLst>
            </a:blip>
            <a:stretch>
              <a:fillRect l="0" t="-91" r="0" b="-91"/>
            </a:stretch>
          </a:blipFill>
        </p:spPr>
      </p:sp>
      <p:sp>
        <p:nvSpPr>
          <p:cNvPr name="Freeform 5" id="5"/>
          <p:cNvSpPr/>
          <p:nvPr/>
        </p:nvSpPr>
        <p:spPr>
          <a:xfrm flipH="false" flipV="false" rot="0">
            <a:off x="411480" y="932688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Freeform 6" id="6"/>
          <p:cNvSpPr/>
          <p:nvPr/>
        </p:nvSpPr>
        <p:spPr>
          <a:xfrm flipH="false" flipV="false" rot="0">
            <a:off x="15426652" y="1651835"/>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TextBox 7" id="7"/>
          <p:cNvSpPr txBox="true"/>
          <p:nvPr/>
        </p:nvSpPr>
        <p:spPr>
          <a:xfrm rot="0">
            <a:off x="557087" y="2923031"/>
            <a:ext cx="17730913" cy="6077649"/>
          </a:xfrm>
          <a:prstGeom prst="rect">
            <a:avLst/>
          </a:prstGeom>
        </p:spPr>
        <p:txBody>
          <a:bodyPr anchor="t" rtlCol="false" tIns="0" lIns="0" bIns="0" rIns="0">
            <a:spAutoFit/>
          </a:bodyPr>
          <a:lstStyle/>
          <a:p>
            <a:pPr algn="l">
              <a:lnSpc>
                <a:spcPts val="4426"/>
              </a:lnSpc>
            </a:pPr>
          </a:p>
          <a:p>
            <a:pPr algn="l">
              <a:lnSpc>
                <a:spcPts val="4426"/>
              </a:lnSpc>
              <a:spcBef>
                <a:spcPct val="0"/>
              </a:spcBef>
            </a:pPr>
            <a:r>
              <a:rPr lang="en-US" b="true" sz="3353">
                <a:solidFill>
                  <a:srgbClr val="144778"/>
                </a:solidFill>
                <a:latin typeface="Comic Sans Bold"/>
                <a:ea typeface="Comic Sans Bold"/>
                <a:cs typeface="Comic Sans Bold"/>
                <a:sym typeface="Comic Sans Bold"/>
              </a:rPr>
              <a:t>Inter-Process Communic</a:t>
            </a:r>
            <a:r>
              <a:rPr lang="en-US" b="true" sz="3353">
                <a:solidFill>
                  <a:srgbClr val="144778"/>
                </a:solidFill>
                <a:latin typeface="Comic Sans Bold"/>
                <a:ea typeface="Comic Sans Bold"/>
                <a:cs typeface="Comic Sans Bold"/>
                <a:sym typeface="Comic Sans Bold"/>
              </a:rPr>
              <a:t>ation (IPC) is a mechanism that allows independent processes to exchange information and coordinate their activities.</a:t>
            </a:r>
          </a:p>
          <a:p>
            <a:pPr algn="l">
              <a:lnSpc>
                <a:spcPts val="4426"/>
              </a:lnSpc>
              <a:spcBef>
                <a:spcPct val="0"/>
              </a:spcBef>
            </a:pPr>
            <a:r>
              <a:rPr lang="en-US" b="true" sz="3353">
                <a:solidFill>
                  <a:srgbClr val="144778"/>
                </a:solidFill>
                <a:latin typeface="Comic Sans Bold"/>
                <a:ea typeface="Comic Sans Bold"/>
                <a:cs typeface="Comic Sans Bold"/>
                <a:sym typeface="Comic Sans Bold"/>
              </a:rPr>
              <a:t>Shared memory is one of the fastest IPC mechanisms because multiple processes can access a common memory region.</a:t>
            </a:r>
          </a:p>
          <a:p>
            <a:pPr algn="l">
              <a:lnSpc>
                <a:spcPts val="4426"/>
              </a:lnSpc>
              <a:spcBef>
                <a:spcPct val="0"/>
              </a:spcBef>
            </a:pPr>
            <a:r>
              <a:rPr lang="en-US" b="true" sz="3353">
                <a:solidFill>
                  <a:srgbClr val="144778"/>
                </a:solidFill>
                <a:latin typeface="Comic Sans Bold"/>
                <a:ea typeface="Comic Sans Bold"/>
                <a:cs typeface="Comic Sans Bold"/>
                <a:sym typeface="Comic Sans Bold"/>
              </a:rPr>
              <a:t>This project implements a Shared Memory Based Data Exchange System using C programming and Linux system calls. It demonstrates two-way communication between a parent process and a child process.</a:t>
            </a:r>
          </a:p>
          <a:p>
            <a:pPr algn="l">
              <a:lnSpc>
                <a:spcPts val="4426"/>
              </a:lnSpc>
              <a:spcBef>
                <a:spcPct val="0"/>
              </a:spcBef>
            </a:pPr>
            <a:r>
              <a:rPr lang="en-US" b="true" sz="3353">
                <a:solidFill>
                  <a:srgbClr val="144778"/>
                </a:solidFill>
                <a:latin typeface="Comic Sans Bold"/>
                <a:ea typeface="Comic Sans Bold"/>
                <a:cs typeface="Comic Sans Bold"/>
                <a:sym typeface="Comic Sans Bold"/>
              </a:rPr>
              <a:t>The parent sends a message to the child, and the child sends a reply back through the same shared memory segment.</a:t>
            </a:r>
          </a:p>
          <a:p>
            <a:pPr algn="l">
              <a:lnSpc>
                <a:spcPts val="442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TextBox 2" id="2"/>
          <p:cNvSpPr txBox="true"/>
          <p:nvPr/>
        </p:nvSpPr>
        <p:spPr>
          <a:xfrm rot="0">
            <a:off x="1097280" y="685800"/>
            <a:ext cx="13258800" cy="819150"/>
          </a:xfrm>
          <a:prstGeom prst="rect">
            <a:avLst/>
          </a:prstGeom>
        </p:spPr>
        <p:txBody>
          <a:bodyPr anchor="t" rtlCol="false" tIns="0" lIns="0" bIns="0" rIns="0">
            <a:spAutoFit/>
          </a:bodyPr>
          <a:lstStyle/>
          <a:p>
            <a:pPr algn="l">
              <a:lnSpc>
                <a:spcPts val="6480"/>
              </a:lnSpc>
            </a:pPr>
            <a:r>
              <a:rPr lang="en-US" sz="5400" b="true">
                <a:solidFill>
                  <a:srgbClr val="144778"/>
                </a:solidFill>
                <a:latin typeface="Milk Tea Font TH Bold"/>
                <a:ea typeface="Milk Tea Font TH Bold"/>
                <a:cs typeface="Milk Tea Font TH Bold"/>
                <a:sym typeface="Milk Tea Font TH Bold"/>
              </a:rPr>
              <a:t>Probem Statement &amp; Objectives</a:t>
            </a:r>
          </a:p>
        </p:txBody>
      </p:sp>
      <p:sp>
        <p:nvSpPr>
          <p:cNvPr name="Freeform 3" id="3"/>
          <p:cNvSpPr/>
          <p:nvPr/>
        </p:nvSpPr>
        <p:spPr>
          <a:xfrm flipH="false" flipV="false" rot="-2248140">
            <a:off x="14996160" y="8686800"/>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4" id="4"/>
          <p:cNvSpPr/>
          <p:nvPr/>
        </p:nvSpPr>
        <p:spPr>
          <a:xfrm flipH="false" flipV="false" rot="9607080">
            <a:off x="12252960" y="-1554480"/>
            <a:ext cx="5226996" cy="3411807"/>
          </a:xfrm>
          <a:custGeom>
            <a:avLst/>
            <a:gdLst/>
            <a:ahLst/>
            <a:cxnLst/>
            <a:rect r="r" b="b" t="t" l="l"/>
            <a:pathLst>
              <a:path h="3411807" w="5226996">
                <a:moveTo>
                  <a:pt x="0" y="0"/>
                </a:moveTo>
                <a:lnTo>
                  <a:pt x="5226996" y="0"/>
                </a:lnTo>
                <a:lnTo>
                  <a:pt x="5226996" y="3411807"/>
                </a:lnTo>
                <a:lnTo>
                  <a:pt x="0" y="3411807"/>
                </a:lnTo>
                <a:lnTo>
                  <a:pt x="0" y="0"/>
                </a:lnTo>
                <a:close/>
              </a:path>
            </a:pathLst>
          </a:custGeom>
          <a:blipFill>
            <a:blip r:embed="rId5">
              <a:extLst>
                <a:ext uri="{96DAC541-7B7A-43D3-8B79-37D633B846F1}">
                  <asvg:svgBlip xmlns:asvg="http://schemas.microsoft.com/office/drawing/2016/SVG/main" r:embed="rId6"/>
                </a:ext>
              </a:extLst>
            </a:blip>
            <a:stretch>
              <a:fillRect l="0" t="-91" r="0" b="-91"/>
            </a:stretch>
          </a:blipFill>
        </p:spPr>
      </p:sp>
      <p:sp>
        <p:nvSpPr>
          <p:cNvPr name="Freeform 5" id="5"/>
          <p:cNvSpPr/>
          <p:nvPr/>
        </p:nvSpPr>
        <p:spPr>
          <a:xfrm flipH="false" flipV="false" rot="0">
            <a:off x="411480" y="932688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Freeform 6" id="6"/>
          <p:cNvSpPr/>
          <p:nvPr/>
        </p:nvSpPr>
        <p:spPr>
          <a:xfrm flipH="false" flipV="false" rot="0">
            <a:off x="15426652" y="1651835"/>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TextBox 7" id="7"/>
          <p:cNvSpPr txBox="true"/>
          <p:nvPr/>
        </p:nvSpPr>
        <p:spPr>
          <a:xfrm rot="0">
            <a:off x="558572" y="3048993"/>
            <a:ext cx="18288000" cy="2998851"/>
          </a:xfrm>
          <a:prstGeom prst="rect">
            <a:avLst/>
          </a:prstGeom>
        </p:spPr>
        <p:txBody>
          <a:bodyPr anchor="t" rtlCol="false" tIns="0" lIns="0" bIns="0" rIns="0">
            <a:spAutoFit/>
          </a:bodyPr>
          <a:lstStyle/>
          <a:p>
            <a:pPr algn="l">
              <a:lnSpc>
                <a:spcPts val="3432"/>
              </a:lnSpc>
              <a:spcBef>
                <a:spcPct val="0"/>
              </a:spcBef>
            </a:pPr>
            <a:r>
              <a:rPr lang="en-US" b="true" sz="2600">
                <a:solidFill>
                  <a:srgbClr val="144778"/>
                </a:solidFill>
                <a:latin typeface="Comic Sans Bold"/>
                <a:ea typeface="Comic Sans Bold"/>
                <a:cs typeface="Comic Sans Bold"/>
                <a:sym typeface="Comic Sans Bold"/>
              </a:rPr>
              <a:t>Processes in an </a:t>
            </a:r>
            <a:r>
              <a:rPr lang="en-US" b="true" sz="2600">
                <a:solidFill>
                  <a:srgbClr val="144778"/>
                </a:solidFill>
                <a:latin typeface="Comic Sans Bold"/>
                <a:ea typeface="Comic Sans Bold"/>
                <a:cs typeface="Comic Sans Bold"/>
                <a:sym typeface="Comic Sans Bold"/>
              </a:rPr>
              <a:t>operating system generally have separate address spaces, which makes direct data exchange difficult.</a:t>
            </a:r>
          </a:p>
          <a:p>
            <a:pPr algn="l">
              <a:lnSpc>
                <a:spcPts val="3432"/>
              </a:lnSpc>
              <a:spcBef>
                <a:spcPct val="0"/>
              </a:spcBef>
            </a:pPr>
            <a:r>
              <a:rPr lang="en-US" b="true" sz="2600">
                <a:solidFill>
                  <a:srgbClr val="144778"/>
                </a:solidFill>
                <a:latin typeface="Comic Sans Bold"/>
                <a:ea typeface="Comic Sans Bold"/>
                <a:cs typeface="Comic Sans Bold"/>
                <a:sym typeface="Comic Sans Bold"/>
              </a:rPr>
              <a:t>A suitable Inter-Process Communication mechanism is required to transfer information between processes efficiently.</a:t>
            </a:r>
          </a:p>
          <a:p>
            <a:pPr algn="l">
              <a:lnSpc>
                <a:spcPts val="3432"/>
              </a:lnSpc>
              <a:spcBef>
                <a:spcPct val="0"/>
              </a:spcBef>
            </a:pPr>
            <a:r>
              <a:rPr lang="en-US" b="true" sz="2600">
                <a:solidFill>
                  <a:srgbClr val="144778"/>
                </a:solidFill>
                <a:latin typeface="Comic Sans Bold"/>
                <a:ea typeface="Comic Sans Bold"/>
                <a:cs typeface="Comic Sans Bold"/>
                <a:sym typeface="Comic Sans Bold"/>
              </a:rPr>
              <a:t>The proposed system uses shared memory to provide a common communication region for a parent and child process, enabling message exchange with basic coordination and resource cleanup.</a:t>
            </a:r>
          </a:p>
          <a:p>
            <a:pPr algn="l">
              <a:lnSpc>
                <a:spcPts val="3432"/>
              </a:lnSpc>
              <a:spcBef>
                <a:spcPct val="0"/>
              </a:spcBef>
            </a:pPr>
          </a:p>
        </p:txBody>
      </p:sp>
      <p:sp>
        <p:nvSpPr>
          <p:cNvPr name="TextBox 8" id="8"/>
          <p:cNvSpPr txBox="true"/>
          <p:nvPr/>
        </p:nvSpPr>
        <p:spPr>
          <a:xfrm rot="0">
            <a:off x="1028700" y="5693435"/>
            <a:ext cx="14189861" cy="3856101"/>
          </a:xfrm>
          <a:prstGeom prst="rect">
            <a:avLst/>
          </a:prstGeom>
        </p:spPr>
        <p:txBody>
          <a:bodyPr anchor="t" rtlCol="false" tIns="0" lIns="0" bIns="0" rIns="0">
            <a:spAutoFit/>
          </a:bodyPr>
          <a:lstStyle/>
          <a:p>
            <a:pPr algn="l">
              <a:lnSpc>
                <a:spcPts val="3875"/>
              </a:lnSpc>
            </a:pPr>
            <a:r>
              <a:rPr lang="en-US" sz="2936" b="true">
                <a:solidFill>
                  <a:srgbClr val="144778"/>
                </a:solidFill>
                <a:latin typeface="Comic Sans Bold"/>
                <a:ea typeface="Comic Sans Bold"/>
                <a:cs typeface="Comic Sans Bold"/>
                <a:sym typeface="Comic Sans Bold"/>
              </a:rPr>
              <a:t>Objectives</a:t>
            </a:r>
          </a:p>
          <a:p>
            <a:pPr algn="l" marL="633906" indent="-316953" lvl="1">
              <a:lnSpc>
                <a:spcPts val="3875"/>
              </a:lnSpc>
              <a:spcBef>
                <a:spcPct val="0"/>
              </a:spcBef>
              <a:buFont typeface="Arial"/>
              <a:buChar char="•"/>
            </a:pPr>
            <a:r>
              <a:rPr lang="en-US" b="true" sz="2936">
                <a:solidFill>
                  <a:srgbClr val="144778"/>
                </a:solidFill>
                <a:latin typeface="Comic Sans Bold"/>
                <a:ea typeface="Comic Sans Bold"/>
                <a:cs typeface="Comic Sans Bold"/>
                <a:sym typeface="Comic Sans Bold"/>
              </a:rPr>
              <a:t>T</a:t>
            </a:r>
            <a:r>
              <a:rPr lang="en-US" b="true" sz="2936">
                <a:solidFill>
                  <a:srgbClr val="144778"/>
                </a:solidFill>
                <a:latin typeface="Comic Sans Bold"/>
                <a:ea typeface="Comic Sans Bold"/>
                <a:cs typeface="Comic Sans Bold"/>
                <a:sym typeface="Comic Sans Bold"/>
              </a:rPr>
              <a:t>o understand Inter-Process Communication in Linux.</a:t>
            </a:r>
          </a:p>
          <a:p>
            <a:pPr algn="l" marL="633906" indent="-316953" lvl="1">
              <a:lnSpc>
                <a:spcPts val="3875"/>
              </a:lnSpc>
              <a:spcBef>
                <a:spcPct val="0"/>
              </a:spcBef>
              <a:buFont typeface="Arial"/>
              <a:buChar char="•"/>
            </a:pPr>
            <a:r>
              <a:rPr lang="en-US" b="true" sz="2936">
                <a:solidFill>
                  <a:srgbClr val="144778"/>
                </a:solidFill>
                <a:latin typeface="Comic Sans Bold"/>
                <a:ea typeface="Comic Sans Bold"/>
                <a:cs typeface="Comic Sans Bold"/>
                <a:sym typeface="Comic Sans Bold"/>
              </a:rPr>
              <a:t>To create and manage shared memory using System V IPC.</a:t>
            </a:r>
          </a:p>
          <a:p>
            <a:pPr algn="l" marL="633906" indent="-316953" lvl="1">
              <a:lnSpc>
                <a:spcPts val="3875"/>
              </a:lnSpc>
              <a:spcBef>
                <a:spcPct val="0"/>
              </a:spcBef>
              <a:buFont typeface="Arial"/>
              <a:buChar char="•"/>
            </a:pPr>
            <a:r>
              <a:rPr lang="en-US" b="true" sz="2936">
                <a:solidFill>
                  <a:srgbClr val="144778"/>
                </a:solidFill>
                <a:latin typeface="Comic Sans Bold"/>
                <a:ea typeface="Comic Sans Bold"/>
                <a:cs typeface="Comic Sans Bold"/>
                <a:sym typeface="Comic Sans Bold"/>
              </a:rPr>
              <a:t>To create a child process using the fork() system call.</a:t>
            </a:r>
          </a:p>
          <a:p>
            <a:pPr algn="l" marL="633906" indent="-316953" lvl="1">
              <a:lnSpc>
                <a:spcPts val="3875"/>
              </a:lnSpc>
              <a:spcBef>
                <a:spcPct val="0"/>
              </a:spcBef>
              <a:buFont typeface="Arial"/>
              <a:buChar char="•"/>
            </a:pPr>
            <a:r>
              <a:rPr lang="en-US" b="true" sz="2936">
                <a:solidFill>
                  <a:srgbClr val="144778"/>
                </a:solidFill>
                <a:latin typeface="Comic Sans Bold"/>
                <a:ea typeface="Comic Sans Bold"/>
                <a:cs typeface="Comic Sans Bold"/>
                <a:sym typeface="Comic Sans Bold"/>
              </a:rPr>
              <a:t>To implement two-way communication between parent and child processes.</a:t>
            </a:r>
          </a:p>
          <a:p>
            <a:pPr algn="l" marL="633906" indent="-316953" lvl="1">
              <a:lnSpc>
                <a:spcPts val="3875"/>
              </a:lnSpc>
              <a:spcBef>
                <a:spcPct val="0"/>
              </a:spcBef>
              <a:buFont typeface="Arial"/>
              <a:buChar char="•"/>
            </a:pPr>
            <a:r>
              <a:rPr lang="en-US" b="true" sz="2936">
                <a:solidFill>
                  <a:srgbClr val="144778"/>
                </a:solidFill>
                <a:latin typeface="Comic Sans Bold"/>
                <a:ea typeface="Comic Sans Bold"/>
                <a:cs typeface="Comic Sans Bold"/>
                <a:sym typeface="Comic Sans Bold"/>
              </a:rPr>
              <a:t>To coordinate message exchange using status flags.</a:t>
            </a:r>
          </a:p>
          <a:p>
            <a:pPr algn="l" marL="633906" indent="-316953" lvl="1">
              <a:lnSpc>
                <a:spcPts val="3875"/>
              </a:lnSpc>
              <a:spcBef>
                <a:spcPct val="0"/>
              </a:spcBef>
              <a:buFont typeface="Arial"/>
              <a:buChar char="•"/>
            </a:pPr>
            <a:r>
              <a:rPr lang="en-US" b="true" sz="2936">
                <a:solidFill>
                  <a:srgbClr val="144778"/>
                </a:solidFill>
                <a:latin typeface="Comic Sans Bold"/>
                <a:ea typeface="Comic Sans Bold"/>
                <a:cs typeface="Comic Sans Bold"/>
                <a:sym typeface="Comic Sans Bold"/>
              </a:rPr>
              <a:t>To release shared memory resources after communication.</a:t>
            </a:r>
          </a:p>
          <a:p>
            <a:pPr algn="l">
              <a:lnSpc>
                <a:spcPts val="3875"/>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TextBox 2" id="2"/>
          <p:cNvSpPr txBox="true"/>
          <p:nvPr/>
        </p:nvSpPr>
        <p:spPr>
          <a:xfrm rot="0">
            <a:off x="1097280" y="685800"/>
            <a:ext cx="13258800" cy="2457450"/>
          </a:xfrm>
          <a:prstGeom prst="rect">
            <a:avLst/>
          </a:prstGeom>
        </p:spPr>
        <p:txBody>
          <a:bodyPr anchor="t" rtlCol="false" tIns="0" lIns="0" bIns="0" rIns="0">
            <a:spAutoFit/>
          </a:bodyPr>
          <a:lstStyle/>
          <a:p>
            <a:pPr algn="l">
              <a:lnSpc>
                <a:spcPts val="6480"/>
              </a:lnSpc>
            </a:pPr>
            <a:r>
              <a:rPr lang="en-US" sz="5400" b="true">
                <a:solidFill>
                  <a:srgbClr val="144778"/>
                </a:solidFill>
                <a:latin typeface="Milk Tea Font TH Bold"/>
                <a:ea typeface="Milk Tea Font TH Bold"/>
                <a:cs typeface="Milk Tea Font TH Bold"/>
                <a:sym typeface="Milk Tea Font TH Bold"/>
              </a:rPr>
              <a:t>Existing</a:t>
            </a:r>
            <a:r>
              <a:rPr lang="en-US" sz="5400" b="true">
                <a:solidFill>
                  <a:srgbClr val="144778"/>
                </a:solidFill>
                <a:latin typeface="Milk Tea Font TH Bold"/>
                <a:ea typeface="Milk Tea Font TH Bold"/>
                <a:cs typeface="Milk Tea Font TH Bold"/>
                <a:sym typeface="Milk Tea Font TH Bold"/>
              </a:rPr>
              <a:t> System vs Proposed System</a:t>
            </a:r>
          </a:p>
          <a:p>
            <a:pPr algn="l">
              <a:lnSpc>
                <a:spcPts val="6480"/>
              </a:lnSpc>
            </a:pPr>
          </a:p>
          <a:p>
            <a:pPr algn="l">
              <a:lnSpc>
                <a:spcPts val="6480"/>
              </a:lnSpc>
            </a:pPr>
          </a:p>
        </p:txBody>
      </p:sp>
      <p:sp>
        <p:nvSpPr>
          <p:cNvPr name="Freeform 3" id="3"/>
          <p:cNvSpPr/>
          <p:nvPr/>
        </p:nvSpPr>
        <p:spPr>
          <a:xfrm flipH="false" flipV="false" rot="10169040">
            <a:off x="12252960" y="-1554480"/>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4" id="4"/>
          <p:cNvSpPr/>
          <p:nvPr/>
        </p:nvSpPr>
        <p:spPr>
          <a:xfrm flipH="false" flipV="false" rot="-694080">
            <a:off x="14996160" y="8686800"/>
            <a:ext cx="4769749" cy="3113351"/>
          </a:xfrm>
          <a:custGeom>
            <a:avLst/>
            <a:gdLst/>
            <a:ahLst/>
            <a:cxnLst/>
            <a:rect r="r" b="b" t="t" l="l"/>
            <a:pathLst>
              <a:path h="3113351" w="4769749">
                <a:moveTo>
                  <a:pt x="0" y="0"/>
                </a:moveTo>
                <a:lnTo>
                  <a:pt x="4769749" y="0"/>
                </a:lnTo>
                <a:lnTo>
                  <a:pt x="4769749" y="3113351"/>
                </a:lnTo>
                <a:lnTo>
                  <a:pt x="0" y="3113351"/>
                </a:lnTo>
                <a:lnTo>
                  <a:pt x="0" y="0"/>
                </a:lnTo>
                <a:close/>
              </a:path>
            </a:pathLst>
          </a:custGeom>
          <a:blipFill>
            <a:blip r:embed="rId3">
              <a:extLst>
                <a:ext uri="{96DAC541-7B7A-43D3-8B79-37D633B846F1}">
                  <asvg:svgBlip xmlns:asvg="http://schemas.microsoft.com/office/drawing/2016/SVG/main" r:embed="rId4"/>
                </a:ext>
              </a:extLst>
            </a:blip>
            <a:stretch>
              <a:fillRect l="0" t="-150" r="0" b="-150"/>
            </a:stretch>
          </a:blipFill>
        </p:spPr>
      </p:sp>
      <p:sp>
        <p:nvSpPr>
          <p:cNvPr name="Freeform 5" id="5"/>
          <p:cNvSpPr/>
          <p:nvPr/>
        </p:nvSpPr>
        <p:spPr>
          <a:xfrm flipH="false" flipV="false" rot="0">
            <a:off x="411480" y="932688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Freeform 6" id="6"/>
          <p:cNvSpPr/>
          <p:nvPr/>
        </p:nvSpPr>
        <p:spPr>
          <a:xfrm flipH="false" flipV="false" rot="0">
            <a:off x="16034090" y="1685515"/>
            <a:ext cx="831837" cy="842562"/>
          </a:xfrm>
          <a:custGeom>
            <a:avLst/>
            <a:gdLst/>
            <a:ahLst/>
            <a:cxnLst/>
            <a:rect r="r" b="b" t="t" l="l"/>
            <a:pathLst>
              <a:path h="842562" w="831837">
                <a:moveTo>
                  <a:pt x="0" y="0"/>
                </a:moveTo>
                <a:lnTo>
                  <a:pt x="831837" y="0"/>
                </a:lnTo>
                <a:lnTo>
                  <a:pt x="831837" y="842563"/>
                </a:lnTo>
                <a:lnTo>
                  <a:pt x="0" y="842563"/>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TextBox 7" id="7"/>
          <p:cNvSpPr txBox="true"/>
          <p:nvPr/>
        </p:nvSpPr>
        <p:spPr>
          <a:xfrm rot="0">
            <a:off x="411480" y="2870981"/>
            <a:ext cx="16038528" cy="5514518"/>
          </a:xfrm>
          <a:prstGeom prst="rect">
            <a:avLst/>
          </a:prstGeom>
        </p:spPr>
        <p:txBody>
          <a:bodyPr anchor="t" rtlCol="false" tIns="0" lIns="0" bIns="0" rIns="0">
            <a:spAutoFit/>
          </a:bodyPr>
          <a:lstStyle/>
          <a:p>
            <a:pPr algn="l">
              <a:lnSpc>
                <a:spcPts val="4020"/>
              </a:lnSpc>
            </a:pPr>
            <a:r>
              <a:rPr lang="en-US" sz="3045" b="true">
                <a:solidFill>
                  <a:srgbClr val="144778"/>
                </a:solidFill>
                <a:latin typeface="Comic Sans Bold"/>
                <a:ea typeface="Comic Sans Bold"/>
                <a:cs typeface="Comic Sans Bold"/>
                <a:sym typeface="Comic Sans Bold"/>
              </a:rPr>
              <a:t>Existing System</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Pr</a:t>
            </a:r>
            <a:r>
              <a:rPr lang="en-US" b="true" sz="3045">
                <a:solidFill>
                  <a:srgbClr val="144778"/>
                </a:solidFill>
                <a:latin typeface="Comic Sans Bold"/>
                <a:ea typeface="Comic Sans Bold"/>
                <a:cs typeface="Comic Sans Bold"/>
                <a:sym typeface="Comic Sans Bold"/>
              </a:rPr>
              <a:t>ocesses have separate address spaces by default.</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Data exchange requires a suitable IPC mechanism.</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Communication may involve intermediate channels or additional data copying.</a:t>
            </a:r>
          </a:p>
          <a:p>
            <a:pPr algn="l">
              <a:lnSpc>
                <a:spcPts val="4020"/>
              </a:lnSpc>
              <a:spcBef>
                <a:spcPct val="0"/>
              </a:spcBef>
            </a:pPr>
            <a:r>
              <a:rPr lang="en-US" b="true" sz="3045">
                <a:solidFill>
                  <a:srgbClr val="144778"/>
                </a:solidFill>
                <a:latin typeface="Comic Sans Bold"/>
                <a:ea typeface="Comic Sans Bold"/>
                <a:cs typeface="Comic Sans Bold"/>
                <a:sym typeface="Comic Sans Bold"/>
              </a:rPr>
              <a:t>Proposed System</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Uses System V shared memory for data exchange.</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Enables parent-to-child and child-to-parent communication.</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Uses shared message buffers and status flags.</a:t>
            </a:r>
          </a:p>
          <a:p>
            <a:pPr algn="l" marL="657534" indent="-328767" lvl="1">
              <a:lnSpc>
                <a:spcPts val="4020"/>
              </a:lnSpc>
              <a:spcBef>
                <a:spcPct val="0"/>
              </a:spcBef>
              <a:buFont typeface="Arial"/>
              <a:buChar char="•"/>
            </a:pPr>
            <a:r>
              <a:rPr lang="en-US" b="true" sz="3045">
                <a:solidFill>
                  <a:srgbClr val="144778"/>
                </a:solidFill>
                <a:latin typeface="Comic Sans Bold"/>
                <a:ea typeface="Comic Sans Bold"/>
                <a:cs typeface="Comic Sans Bold"/>
                <a:sym typeface="Comic Sans Bold"/>
              </a:rPr>
              <a:t>Demonstrates process creation, coordination, and memory cleanup.</a:t>
            </a:r>
          </a:p>
          <a:p>
            <a:pPr algn="l">
              <a:lnSpc>
                <a:spcPts val="4020"/>
              </a:lnSpc>
              <a:spcBef>
                <a:spcPct val="0"/>
              </a:spcBef>
            </a:pPr>
            <a:r>
              <a:rPr lang="en-US" b="true" sz="3045">
                <a:solidFill>
                  <a:srgbClr val="144778"/>
                </a:solidFill>
                <a:latin typeface="Comic Sans Bold"/>
                <a:ea typeface="Comic Sans Bold"/>
                <a:cs typeface="Comic Sans Bold"/>
                <a:sym typeface="Comic Sans Bold"/>
              </a:rPr>
              <a:t>Outcome: A simple, interactive demonstration of two-way IPC using shared memory.</a:t>
            </a:r>
          </a:p>
          <a:p>
            <a:pPr algn="l">
              <a:lnSpc>
                <a:spcPts val="402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TextBox 2" id="2"/>
          <p:cNvSpPr txBox="true"/>
          <p:nvPr/>
        </p:nvSpPr>
        <p:spPr>
          <a:xfrm rot="0">
            <a:off x="1097280" y="685800"/>
            <a:ext cx="13258800" cy="819150"/>
          </a:xfrm>
          <a:prstGeom prst="rect">
            <a:avLst/>
          </a:prstGeom>
        </p:spPr>
        <p:txBody>
          <a:bodyPr anchor="t" rtlCol="false" tIns="0" lIns="0" bIns="0" rIns="0">
            <a:spAutoFit/>
          </a:bodyPr>
          <a:lstStyle/>
          <a:p>
            <a:pPr algn="l">
              <a:lnSpc>
                <a:spcPts val="6480"/>
              </a:lnSpc>
            </a:pPr>
            <a:r>
              <a:rPr lang="en-US" sz="5400" b="true">
                <a:solidFill>
                  <a:srgbClr val="144778"/>
                </a:solidFill>
                <a:latin typeface="Milk Tea Font TH Bold"/>
                <a:ea typeface="Milk Tea Font TH Bold"/>
                <a:cs typeface="Milk Tea Font TH Bold"/>
                <a:sym typeface="Milk Tea Font TH Bold"/>
              </a:rPr>
              <a:t>Stystem </a:t>
            </a:r>
            <a:r>
              <a:rPr lang="en-US" sz="5400" b="true">
                <a:solidFill>
                  <a:srgbClr val="144778"/>
                </a:solidFill>
                <a:latin typeface="Milk Tea Font TH Bold"/>
                <a:ea typeface="Milk Tea Font TH Bold"/>
                <a:cs typeface="Milk Tea Font TH Bold"/>
                <a:sym typeface="Milk Tea Font TH Bold"/>
              </a:rPr>
              <a:t>Architecture</a:t>
            </a:r>
          </a:p>
        </p:txBody>
      </p:sp>
      <p:sp>
        <p:nvSpPr>
          <p:cNvPr name="Freeform 3" id="3"/>
          <p:cNvSpPr/>
          <p:nvPr/>
        </p:nvSpPr>
        <p:spPr>
          <a:xfrm flipH="false" flipV="false" rot="10169040">
            <a:off x="12252960" y="-1554480"/>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4" id="4"/>
          <p:cNvSpPr/>
          <p:nvPr/>
        </p:nvSpPr>
        <p:spPr>
          <a:xfrm flipH="false" flipV="false" rot="-694080">
            <a:off x="15159077" y="8730324"/>
            <a:ext cx="4769749" cy="3113351"/>
          </a:xfrm>
          <a:custGeom>
            <a:avLst/>
            <a:gdLst/>
            <a:ahLst/>
            <a:cxnLst/>
            <a:rect r="r" b="b" t="t" l="l"/>
            <a:pathLst>
              <a:path h="3113351" w="4769749">
                <a:moveTo>
                  <a:pt x="0" y="0"/>
                </a:moveTo>
                <a:lnTo>
                  <a:pt x="4769748" y="0"/>
                </a:lnTo>
                <a:lnTo>
                  <a:pt x="4769748" y="3113352"/>
                </a:lnTo>
                <a:lnTo>
                  <a:pt x="0" y="3113352"/>
                </a:lnTo>
                <a:lnTo>
                  <a:pt x="0" y="0"/>
                </a:lnTo>
                <a:close/>
              </a:path>
            </a:pathLst>
          </a:custGeom>
          <a:blipFill>
            <a:blip r:embed="rId3">
              <a:extLst>
                <a:ext uri="{96DAC541-7B7A-43D3-8B79-37D633B846F1}">
                  <asvg:svgBlip xmlns:asvg="http://schemas.microsoft.com/office/drawing/2016/SVG/main" r:embed="rId4"/>
                </a:ext>
              </a:extLst>
            </a:blip>
            <a:stretch>
              <a:fillRect l="0" t="-150" r="0" b="-150"/>
            </a:stretch>
          </a:blipFill>
        </p:spPr>
      </p:sp>
      <p:sp>
        <p:nvSpPr>
          <p:cNvPr name="Freeform 5" id="5"/>
          <p:cNvSpPr/>
          <p:nvPr/>
        </p:nvSpPr>
        <p:spPr>
          <a:xfrm flipH="false" flipV="false" rot="0">
            <a:off x="411480" y="932688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Freeform 6" id="6"/>
          <p:cNvSpPr/>
          <p:nvPr/>
        </p:nvSpPr>
        <p:spPr>
          <a:xfrm flipH="false" flipV="false" rot="0">
            <a:off x="16034090" y="1685515"/>
            <a:ext cx="831837" cy="842562"/>
          </a:xfrm>
          <a:custGeom>
            <a:avLst/>
            <a:gdLst/>
            <a:ahLst/>
            <a:cxnLst/>
            <a:rect r="r" b="b" t="t" l="l"/>
            <a:pathLst>
              <a:path h="842562" w="831837">
                <a:moveTo>
                  <a:pt x="0" y="0"/>
                </a:moveTo>
                <a:lnTo>
                  <a:pt x="831837" y="0"/>
                </a:lnTo>
                <a:lnTo>
                  <a:pt x="831837" y="842563"/>
                </a:lnTo>
                <a:lnTo>
                  <a:pt x="0" y="842563"/>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Freeform 7" id="7"/>
          <p:cNvSpPr/>
          <p:nvPr/>
        </p:nvSpPr>
        <p:spPr>
          <a:xfrm flipH="false" flipV="false" rot="0">
            <a:off x="411480" y="2941226"/>
            <a:ext cx="17620080" cy="5219821"/>
          </a:xfrm>
          <a:custGeom>
            <a:avLst/>
            <a:gdLst/>
            <a:ahLst/>
            <a:cxnLst/>
            <a:rect r="r" b="b" t="t" l="l"/>
            <a:pathLst>
              <a:path h="5219821" w="17620080">
                <a:moveTo>
                  <a:pt x="0" y="0"/>
                </a:moveTo>
                <a:lnTo>
                  <a:pt x="17620080" y="0"/>
                </a:lnTo>
                <a:lnTo>
                  <a:pt x="17620080" y="5219821"/>
                </a:lnTo>
                <a:lnTo>
                  <a:pt x="0" y="5219821"/>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Freeform 2" id="2"/>
          <p:cNvSpPr/>
          <p:nvPr/>
        </p:nvSpPr>
        <p:spPr>
          <a:xfrm flipH="false" flipV="false" rot="-2248140">
            <a:off x="14996160" y="8686800"/>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3" id="3"/>
          <p:cNvSpPr/>
          <p:nvPr/>
        </p:nvSpPr>
        <p:spPr>
          <a:xfrm flipH="false" flipV="false" rot="9607080">
            <a:off x="12252960" y="-1554480"/>
            <a:ext cx="5226996" cy="3411807"/>
          </a:xfrm>
          <a:custGeom>
            <a:avLst/>
            <a:gdLst/>
            <a:ahLst/>
            <a:cxnLst/>
            <a:rect r="r" b="b" t="t" l="l"/>
            <a:pathLst>
              <a:path h="3411807" w="5226996">
                <a:moveTo>
                  <a:pt x="0" y="0"/>
                </a:moveTo>
                <a:lnTo>
                  <a:pt x="5226996" y="0"/>
                </a:lnTo>
                <a:lnTo>
                  <a:pt x="5226996" y="3411807"/>
                </a:lnTo>
                <a:lnTo>
                  <a:pt x="0" y="3411807"/>
                </a:lnTo>
                <a:lnTo>
                  <a:pt x="0" y="0"/>
                </a:lnTo>
                <a:close/>
              </a:path>
            </a:pathLst>
          </a:custGeom>
          <a:blipFill>
            <a:blip r:embed="rId5">
              <a:extLst>
                <a:ext uri="{96DAC541-7B7A-43D3-8B79-37D633B846F1}">
                  <asvg:svgBlip xmlns:asvg="http://schemas.microsoft.com/office/drawing/2016/SVG/main" r:embed="rId6"/>
                </a:ext>
              </a:extLst>
            </a:blip>
            <a:stretch>
              <a:fillRect l="0" t="-91" r="0" b="-91"/>
            </a:stretch>
          </a:blipFill>
        </p:spPr>
      </p:sp>
      <p:sp>
        <p:nvSpPr>
          <p:cNvPr name="Freeform 4" id="4"/>
          <p:cNvSpPr/>
          <p:nvPr/>
        </p:nvSpPr>
        <p:spPr>
          <a:xfrm flipH="false" flipV="false" rot="0">
            <a:off x="411480" y="932688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Freeform 5" id="5"/>
          <p:cNvSpPr/>
          <p:nvPr/>
        </p:nvSpPr>
        <p:spPr>
          <a:xfrm flipH="false" flipV="false" rot="0">
            <a:off x="15426652" y="1651835"/>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TextBox 6" id="6"/>
          <p:cNvSpPr txBox="true"/>
          <p:nvPr/>
        </p:nvSpPr>
        <p:spPr>
          <a:xfrm rot="0">
            <a:off x="1097280" y="685800"/>
            <a:ext cx="13258800" cy="819150"/>
          </a:xfrm>
          <a:prstGeom prst="rect">
            <a:avLst/>
          </a:prstGeom>
        </p:spPr>
        <p:txBody>
          <a:bodyPr anchor="t" rtlCol="false" tIns="0" lIns="0" bIns="0" rIns="0">
            <a:spAutoFit/>
          </a:bodyPr>
          <a:lstStyle/>
          <a:p>
            <a:pPr algn="l">
              <a:lnSpc>
                <a:spcPts val="6480"/>
              </a:lnSpc>
            </a:pPr>
            <a:r>
              <a:rPr lang="en-US" sz="5400" b="true">
                <a:solidFill>
                  <a:srgbClr val="144778"/>
                </a:solidFill>
                <a:latin typeface="Milk Tea Font TH Bold"/>
                <a:ea typeface="Milk Tea Font TH Bold"/>
                <a:cs typeface="Milk Tea Font TH Bold"/>
                <a:sym typeface="Milk Tea Font TH Bold"/>
              </a:rPr>
              <a:t>Technologies &amp; Libraries Used</a:t>
            </a:r>
          </a:p>
        </p:txBody>
      </p:sp>
      <p:sp>
        <p:nvSpPr>
          <p:cNvPr name="TextBox 7" id="7"/>
          <p:cNvSpPr txBox="true"/>
          <p:nvPr/>
        </p:nvSpPr>
        <p:spPr>
          <a:xfrm rot="0">
            <a:off x="1595632" y="2035016"/>
            <a:ext cx="12350873" cy="8013014"/>
          </a:xfrm>
          <a:prstGeom prst="rect">
            <a:avLst/>
          </a:prstGeom>
        </p:spPr>
        <p:txBody>
          <a:bodyPr anchor="t" rtlCol="false" tIns="0" lIns="0" bIns="0" rIns="0">
            <a:spAutoFit/>
          </a:bodyPr>
          <a:lstStyle/>
          <a:p>
            <a:pPr algn="l">
              <a:lnSpc>
                <a:spcPts val="4014"/>
              </a:lnSpc>
            </a:pPr>
            <a:r>
              <a:rPr lang="en-US" sz="3041" b="true">
                <a:solidFill>
                  <a:srgbClr val="144778"/>
                </a:solidFill>
                <a:latin typeface="Comic Sans Bold"/>
                <a:ea typeface="Comic Sans Bold"/>
                <a:cs typeface="Comic Sans Bold"/>
                <a:sym typeface="Comic Sans Bold"/>
              </a:rPr>
              <a:t>Technologies </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Pr</a:t>
            </a:r>
            <a:r>
              <a:rPr lang="en-US" b="true" sz="3041">
                <a:solidFill>
                  <a:srgbClr val="144778"/>
                </a:solidFill>
                <a:latin typeface="Comic Sans Bold"/>
                <a:ea typeface="Comic Sans Bold"/>
                <a:cs typeface="Comic Sans Bold"/>
                <a:sym typeface="Comic Sans Bold"/>
              </a:rPr>
              <a:t>ogramming Language: C</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Operating System: Linux / Ubuntu</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Compiler: GCC</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Build Tool: GNU Make</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IPC Technique: System V Shared Memory</a:t>
            </a:r>
          </a:p>
          <a:p>
            <a:pPr algn="l">
              <a:lnSpc>
                <a:spcPts val="4014"/>
              </a:lnSpc>
              <a:spcBef>
                <a:spcPct val="0"/>
              </a:spcBef>
            </a:pPr>
            <a:r>
              <a:rPr lang="en-US" b="true" sz="3041">
                <a:solidFill>
                  <a:srgbClr val="144778"/>
                </a:solidFill>
                <a:latin typeface="Comic Sans Bold"/>
                <a:ea typeface="Comic Sans Bold"/>
                <a:cs typeface="Comic Sans Bold"/>
                <a:sym typeface="Comic Sans Bold"/>
              </a:rPr>
              <a:t>Libraries and Header Files</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stdio.h — Input/output operations</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string.h — String manipulation</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sys/ipc.h — IPC definitions</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sys/shm.h — Shared memory system calls</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sys/wait.h — Child process waiting</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unistd.h — Process creation and system interfaces</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sched.h — Processor scheduling interface</a:t>
            </a:r>
          </a:p>
          <a:p>
            <a:pPr algn="l" marL="656556" indent="-328278" lvl="1">
              <a:lnSpc>
                <a:spcPts val="4014"/>
              </a:lnSpc>
              <a:spcBef>
                <a:spcPct val="0"/>
              </a:spcBef>
              <a:buFont typeface="Arial"/>
              <a:buChar char="•"/>
            </a:pPr>
            <a:r>
              <a:rPr lang="en-US" b="true" sz="3041">
                <a:solidFill>
                  <a:srgbClr val="144778"/>
                </a:solidFill>
                <a:latin typeface="Comic Sans Bold"/>
                <a:ea typeface="Comic Sans Bold"/>
                <a:cs typeface="Comic Sans Bold"/>
                <a:sym typeface="Comic Sans Bold"/>
              </a:rPr>
              <a:t>shared.h — Custom shared data structure</a:t>
            </a:r>
          </a:p>
          <a:p>
            <a:pPr algn="l">
              <a:lnSpc>
                <a:spcPts val="401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Freeform 2" id="2"/>
          <p:cNvSpPr/>
          <p:nvPr/>
        </p:nvSpPr>
        <p:spPr>
          <a:xfrm flipH="false" flipV="false" rot="10169040">
            <a:off x="13805121" y="-1345015"/>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3" id="3"/>
          <p:cNvSpPr/>
          <p:nvPr/>
        </p:nvSpPr>
        <p:spPr>
          <a:xfrm flipH="false" flipV="false" rot="-694080">
            <a:off x="14996160" y="8686800"/>
            <a:ext cx="4769749" cy="3113351"/>
          </a:xfrm>
          <a:custGeom>
            <a:avLst/>
            <a:gdLst/>
            <a:ahLst/>
            <a:cxnLst/>
            <a:rect r="r" b="b" t="t" l="l"/>
            <a:pathLst>
              <a:path h="3113351" w="4769749">
                <a:moveTo>
                  <a:pt x="0" y="0"/>
                </a:moveTo>
                <a:lnTo>
                  <a:pt x="4769749" y="0"/>
                </a:lnTo>
                <a:lnTo>
                  <a:pt x="4769749" y="3113351"/>
                </a:lnTo>
                <a:lnTo>
                  <a:pt x="0" y="3113351"/>
                </a:lnTo>
                <a:lnTo>
                  <a:pt x="0" y="0"/>
                </a:lnTo>
                <a:close/>
              </a:path>
            </a:pathLst>
          </a:custGeom>
          <a:blipFill>
            <a:blip r:embed="rId3">
              <a:extLst>
                <a:ext uri="{96DAC541-7B7A-43D3-8B79-37D633B846F1}">
                  <asvg:svgBlip xmlns:asvg="http://schemas.microsoft.com/office/drawing/2016/SVG/main" r:embed="rId4"/>
                </a:ext>
              </a:extLst>
            </a:blip>
            <a:stretch>
              <a:fillRect l="0" t="-150" r="0" b="-150"/>
            </a:stretch>
          </a:blipFill>
        </p:spPr>
      </p:sp>
      <p:sp>
        <p:nvSpPr>
          <p:cNvPr name="Freeform 4" id="4"/>
          <p:cNvSpPr/>
          <p:nvPr/>
        </p:nvSpPr>
        <p:spPr>
          <a:xfrm flipH="false" flipV="false" rot="0">
            <a:off x="196863" y="925830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Freeform 5" id="5"/>
          <p:cNvSpPr/>
          <p:nvPr/>
        </p:nvSpPr>
        <p:spPr>
          <a:xfrm flipH="false" flipV="false" rot="0">
            <a:off x="16034090" y="1685515"/>
            <a:ext cx="831837" cy="842562"/>
          </a:xfrm>
          <a:custGeom>
            <a:avLst/>
            <a:gdLst/>
            <a:ahLst/>
            <a:cxnLst/>
            <a:rect r="r" b="b" t="t" l="l"/>
            <a:pathLst>
              <a:path h="842562" w="831837">
                <a:moveTo>
                  <a:pt x="0" y="0"/>
                </a:moveTo>
                <a:lnTo>
                  <a:pt x="831837" y="0"/>
                </a:lnTo>
                <a:lnTo>
                  <a:pt x="831837" y="842563"/>
                </a:lnTo>
                <a:lnTo>
                  <a:pt x="0" y="842563"/>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TextBox 6" id="6"/>
          <p:cNvSpPr txBox="true"/>
          <p:nvPr/>
        </p:nvSpPr>
        <p:spPr>
          <a:xfrm rot="0">
            <a:off x="0" y="118971"/>
            <a:ext cx="13661827" cy="1566544"/>
          </a:xfrm>
          <a:prstGeom prst="rect">
            <a:avLst/>
          </a:prstGeom>
        </p:spPr>
        <p:txBody>
          <a:bodyPr anchor="t" rtlCol="false" tIns="0" lIns="0" bIns="0" rIns="0">
            <a:spAutoFit/>
          </a:bodyPr>
          <a:lstStyle/>
          <a:p>
            <a:pPr algn="ctr">
              <a:lnSpc>
                <a:spcPts val="12880"/>
              </a:lnSpc>
            </a:pPr>
            <a:r>
              <a:rPr lang="en-US" b="true" sz="9200">
                <a:solidFill>
                  <a:srgbClr val="000000"/>
                </a:solidFill>
                <a:latin typeface="Canva Sans Bold"/>
                <a:ea typeface="Canva Sans Bold"/>
                <a:cs typeface="Canva Sans Bold"/>
                <a:sym typeface="Canva Sans Bold"/>
              </a:rPr>
              <a:t> Important System Calls</a:t>
            </a:r>
          </a:p>
        </p:txBody>
      </p:sp>
      <p:sp>
        <p:nvSpPr>
          <p:cNvPr name="TextBox 7" id="7"/>
          <p:cNvSpPr txBox="true"/>
          <p:nvPr/>
        </p:nvSpPr>
        <p:spPr>
          <a:xfrm rot="0">
            <a:off x="1299850" y="2302347"/>
            <a:ext cx="13432591" cy="7538344"/>
          </a:xfrm>
          <a:prstGeom prst="rect">
            <a:avLst/>
          </a:prstGeom>
        </p:spPr>
        <p:txBody>
          <a:bodyPr anchor="t" rtlCol="false" tIns="0" lIns="0" bIns="0" rIns="0">
            <a:spAutoFit/>
          </a:bodyPr>
          <a:lstStyle/>
          <a:p>
            <a:pPr algn="l">
              <a:lnSpc>
                <a:spcPts val="3327"/>
              </a:lnSpc>
            </a:pPr>
            <a:r>
              <a:rPr lang="en-US" sz="2376">
                <a:solidFill>
                  <a:srgbClr val="000000"/>
                </a:solidFill>
                <a:latin typeface="Canva Sans"/>
                <a:ea typeface="Canva Sans"/>
                <a:cs typeface="Canva Sans"/>
                <a:sym typeface="Canva Sans"/>
              </a:rPr>
              <a:t>Important System Calls</a:t>
            </a:r>
          </a:p>
          <a:p>
            <a:pPr algn="l">
              <a:lnSpc>
                <a:spcPts val="3327"/>
              </a:lnSpc>
            </a:pPr>
            <a:r>
              <a:rPr lang="en-US" sz="2376">
                <a:solidFill>
                  <a:srgbClr val="000000"/>
                </a:solidFill>
                <a:latin typeface="Canva Sans"/>
                <a:ea typeface="Canva Sans"/>
                <a:cs typeface="Canva Sans"/>
                <a:sym typeface="Canva Sans"/>
              </a:rPr>
              <a:t>System Call / FunctionPurpose</a:t>
            </a:r>
          </a:p>
          <a:p>
            <a:pPr algn="l">
              <a:lnSpc>
                <a:spcPts val="3327"/>
              </a:lnSpc>
            </a:pPr>
            <a:r>
              <a:rPr lang="en-US" sz="2376">
                <a:solidFill>
                  <a:srgbClr val="000000"/>
                </a:solidFill>
                <a:latin typeface="Canva Sans"/>
                <a:ea typeface="Canva Sans"/>
                <a:cs typeface="Canva Sans"/>
                <a:sym typeface="Canva Sans"/>
              </a:rPr>
              <a:t>shmget()</a:t>
            </a:r>
          </a:p>
          <a:p>
            <a:pPr algn="l">
              <a:lnSpc>
                <a:spcPts val="3327"/>
              </a:lnSpc>
            </a:pPr>
            <a:r>
              <a:rPr lang="en-US" sz="2376">
                <a:solidFill>
                  <a:srgbClr val="000000"/>
                </a:solidFill>
                <a:latin typeface="Canva Sans"/>
                <a:ea typeface="Canva Sans"/>
                <a:cs typeface="Canva Sans"/>
                <a:sym typeface="Canva Sans"/>
              </a:rPr>
              <a:t>Creates a shared memory segment</a:t>
            </a:r>
          </a:p>
          <a:p>
            <a:pPr algn="l">
              <a:lnSpc>
                <a:spcPts val="3327"/>
              </a:lnSpc>
            </a:pPr>
            <a:r>
              <a:rPr lang="en-US" sz="2376">
                <a:solidFill>
                  <a:srgbClr val="000000"/>
                </a:solidFill>
                <a:latin typeface="Canva Sans"/>
                <a:ea typeface="Canva Sans"/>
                <a:cs typeface="Canva Sans"/>
                <a:sym typeface="Canva Sans"/>
              </a:rPr>
              <a:t>shmat()</a:t>
            </a:r>
          </a:p>
          <a:p>
            <a:pPr algn="l">
              <a:lnSpc>
                <a:spcPts val="3327"/>
              </a:lnSpc>
            </a:pPr>
            <a:r>
              <a:rPr lang="en-US" sz="2376">
                <a:solidFill>
                  <a:srgbClr val="000000"/>
                </a:solidFill>
                <a:latin typeface="Canva Sans"/>
                <a:ea typeface="Canva Sans"/>
                <a:cs typeface="Canva Sans"/>
                <a:sym typeface="Canva Sans"/>
              </a:rPr>
              <a:t>Attaches shared memory</a:t>
            </a:r>
          </a:p>
          <a:p>
            <a:pPr algn="l">
              <a:lnSpc>
                <a:spcPts val="3327"/>
              </a:lnSpc>
            </a:pPr>
            <a:r>
              <a:rPr lang="en-US" sz="2376">
                <a:solidFill>
                  <a:srgbClr val="000000"/>
                </a:solidFill>
                <a:latin typeface="Canva Sans"/>
                <a:ea typeface="Canva Sans"/>
                <a:cs typeface="Canva Sans"/>
                <a:sym typeface="Canva Sans"/>
              </a:rPr>
              <a:t>fork()</a:t>
            </a:r>
          </a:p>
          <a:p>
            <a:pPr algn="l">
              <a:lnSpc>
                <a:spcPts val="3327"/>
              </a:lnSpc>
            </a:pPr>
            <a:r>
              <a:rPr lang="en-US" sz="2376">
                <a:solidFill>
                  <a:srgbClr val="000000"/>
                </a:solidFill>
                <a:latin typeface="Canva Sans"/>
                <a:ea typeface="Canva Sans"/>
                <a:cs typeface="Canva Sans"/>
                <a:sym typeface="Canva Sans"/>
              </a:rPr>
              <a:t>Creates a child process</a:t>
            </a:r>
          </a:p>
          <a:p>
            <a:pPr algn="l">
              <a:lnSpc>
                <a:spcPts val="3327"/>
              </a:lnSpc>
            </a:pPr>
            <a:r>
              <a:rPr lang="en-US" sz="2376">
                <a:solidFill>
                  <a:srgbClr val="000000"/>
                </a:solidFill>
                <a:latin typeface="Canva Sans"/>
                <a:ea typeface="Canva Sans"/>
                <a:cs typeface="Canva Sans"/>
                <a:sym typeface="Canva Sans"/>
              </a:rPr>
              <a:t>sched_yield()</a:t>
            </a:r>
          </a:p>
          <a:p>
            <a:pPr algn="l">
              <a:lnSpc>
                <a:spcPts val="3327"/>
              </a:lnSpc>
            </a:pPr>
            <a:r>
              <a:rPr lang="en-US" sz="2376">
                <a:solidFill>
                  <a:srgbClr val="000000"/>
                </a:solidFill>
                <a:latin typeface="Canva Sans"/>
                <a:ea typeface="Canva Sans"/>
                <a:cs typeface="Canva Sans"/>
                <a:sym typeface="Canva Sans"/>
              </a:rPr>
              <a:t>Yields processor time while waiting</a:t>
            </a:r>
          </a:p>
          <a:p>
            <a:pPr algn="l">
              <a:lnSpc>
                <a:spcPts val="3327"/>
              </a:lnSpc>
            </a:pPr>
            <a:r>
              <a:rPr lang="en-US" sz="2376">
                <a:solidFill>
                  <a:srgbClr val="000000"/>
                </a:solidFill>
                <a:latin typeface="Canva Sans"/>
                <a:ea typeface="Canva Sans"/>
                <a:cs typeface="Canva Sans"/>
                <a:sym typeface="Canva Sans"/>
              </a:rPr>
              <a:t>waitpid()</a:t>
            </a:r>
          </a:p>
          <a:p>
            <a:pPr algn="l">
              <a:lnSpc>
                <a:spcPts val="3327"/>
              </a:lnSpc>
            </a:pPr>
            <a:r>
              <a:rPr lang="en-US" sz="2376">
                <a:solidFill>
                  <a:srgbClr val="000000"/>
                </a:solidFill>
                <a:latin typeface="Canva Sans"/>
                <a:ea typeface="Canva Sans"/>
                <a:cs typeface="Canva Sans"/>
                <a:sym typeface="Canva Sans"/>
              </a:rPr>
              <a:t>Waits for child termination</a:t>
            </a:r>
          </a:p>
          <a:p>
            <a:pPr algn="l">
              <a:lnSpc>
                <a:spcPts val="3327"/>
              </a:lnSpc>
            </a:pPr>
            <a:r>
              <a:rPr lang="en-US" sz="2376">
                <a:solidFill>
                  <a:srgbClr val="000000"/>
                </a:solidFill>
                <a:latin typeface="Canva Sans"/>
                <a:ea typeface="Canva Sans"/>
                <a:cs typeface="Canva Sans"/>
                <a:sym typeface="Canva Sans"/>
              </a:rPr>
              <a:t>shmdt()</a:t>
            </a:r>
          </a:p>
          <a:p>
            <a:pPr algn="l">
              <a:lnSpc>
                <a:spcPts val="3327"/>
              </a:lnSpc>
            </a:pPr>
            <a:r>
              <a:rPr lang="en-US" sz="2376">
                <a:solidFill>
                  <a:srgbClr val="000000"/>
                </a:solidFill>
                <a:latin typeface="Canva Sans"/>
                <a:ea typeface="Canva Sans"/>
                <a:cs typeface="Canva Sans"/>
                <a:sym typeface="Canva Sans"/>
              </a:rPr>
              <a:t>Detaches shared memory</a:t>
            </a:r>
          </a:p>
          <a:p>
            <a:pPr algn="l">
              <a:lnSpc>
                <a:spcPts val="3327"/>
              </a:lnSpc>
            </a:pPr>
            <a:r>
              <a:rPr lang="en-US" sz="2376">
                <a:solidFill>
                  <a:srgbClr val="000000"/>
                </a:solidFill>
                <a:latin typeface="Canva Sans"/>
                <a:ea typeface="Canva Sans"/>
                <a:cs typeface="Canva Sans"/>
                <a:sym typeface="Canva Sans"/>
              </a:rPr>
              <a:t>shmctl()</a:t>
            </a:r>
          </a:p>
          <a:p>
            <a:pPr algn="l">
              <a:lnSpc>
                <a:spcPts val="3327"/>
              </a:lnSpc>
            </a:pPr>
            <a:r>
              <a:rPr lang="en-US" sz="2376">
                <a:solidFill>
                  <a:srgbClr val="000000"/>
                </a:solidFill>
                <a:latin typeface="Canva Sans"/>
                <a:ea typeface="Canva Sans"/>
                <a:cs typeface="Canva Sans"/>
                <a:sym typeface="Canva Sans"/>
              </a:rPr>
              <a:t>Controls shared memory and requests removal</a:t>
            </a:r>
          </a:p>
          <a:p>
            <a:pPr algn="l">
              <a:lnSpc>
                <a:spcPts val="3327"/>
              </a:lnSpc>
            </a:pPr>
            <a:r>
              <a:rPr lang="en-US" sz="2376">
                <a:solidFill>
                  <a:srgbClr val="000000"/>
                </a:solidFill>
                <a:latin typeface="Canva Sans"/>
                <a:ea typeface="Canva Sans"/>
                <a:cs typeface="Canva Sans"/>
                <a:sym typeface="Canva Sans"/>
              </a:rPr>
              <a:t>These system calls form the core of the shared memory communication workflow.</a:t>
            </a:r>
          </a:p>
          <a:p>
            <a:pPr algn="l">
              <a:lnSpc>
                <a:spcPts val="332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Freeform 2" id="2"/>
          <p:cNvSpPr/>
          <p:nvPr/>
        </p:nvSpPr>
        <p:spPr>
          <a:xfrm flipH="false" flipV="false" rot="-2248140">
            <a:off x="14996160" y="8686800"/>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3" id="3"/>
          <p:cNvSpPr/>
          <p:nvPr/>
        </p:nvSpPr>
        <p:spPr>
          <a:xfrm flipH="false" flipV="false" rot="9607080">
            <a:off x="12252960" y="-1554480"/>
            <a:ext cx="5226996" cy="3411807"/>
          </a:xfrm>
          <a:custGeom>
            <a:avLst/>
            <a:gdLst/>
            <a:ahLst/>
            <a:cxnLst/>
            <a:rect r="r" b="b" t="t" l="l"/>
            <a:pathLst>
              <a:path h="3411807" w="5226996">
                <a:moveTo>
                  <a:pt x="0" y="0"/>
                </a:moveTo>
                <a:lnTo>
                  <a:pt x="5226996" y="0"/>
                </a:lnTo>
                <a:lnTo>
                  <a:pt x="5226996" y="3411807"/>
                </a:lnTo>
                <a:lnTo>
                  <a:pt x="0" y="3411807"/>
                </a:lnTo>
                <a:lnTo>
                  <a:pt x="0" y="0"/>
                </a:lnTo>
                <a:close/>
              </a:path>
            </a:pathLst>
          </a:custGeom>
          <a:blipFill>
            <a:blip r:embed="rId5">
              <a:extLst>
                <a:ext uri="{96DAC541-7B7A-43D3-8B79-37D633B846F1}">
                  <asvg:svgBlip xmlns:asvg="http://schemas.microsoft.com/office/drawing/2016/SVG/main" r:embed="rId6"/>
                </a:ext>
              </a:extLst>
            </a:blip>
            <a:stretch>
              <a:fillRect l="0" t="-91" r="0" b="-91"/>
            </a:stretch>
          </a:blipFill>
        </p:spPr>
      </p:sp>
      <p:sp>
        <p:nvSpPr>
          <p:cNvPr name="Freeform 4" id="4"/>
          <p:cNvSpPr/>
          <p:nvPr/>
        </p:nvSpPr>
        <p:spPr>
          <a:xfrm flipH="false" flipV="false" rot="0">
            <a:off x="411480" y="932688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Freeform 5" id="5"/>
          <p:cNvSpPr/>
          <p:nvPr/>
        </p:nvSpPr>
        <p:spPr>
          <a:xfrm flipH="false" flipV="false" rot="0">
            <a:off x="15426652" y="1651835"/>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7">
              <a:extLst>
                <a:ext uri="{96DAC541-7B7A-43D3-8B79-37D633B846F1}">
                  <asvg:svgBlip xmlns:asvg="http://schemas.microsoft.com/office/drawing/2016/SVG/main" r:embed="rId8"/>
                </a:ext>
              </a:extLst>
            </a:blip>
            <a:stretch>
              <a:fillRect l="-75" t="0" r="-75" b="0"/>
            </a:stretch>
          </a:blipFill>
        </p:spPr>
      </p:sp>
      <p:sp>
        <p:nvSpPr>
          <p:cNvPr name="Freeform 6" id="6"/>
          <p:cNvSpPr/>
          <p:nvPr/>
        </p:nvSpPr>
        <p:spPr>
          <a:xfrm flipH="false" flipV="false" rot="0">
            <a:off x="0" y="2975159"/>
            <a:ext cx="12251082" cy="2660965"/>
          </a:xfrm>
          <a:custGeom>
            <a:avLst/>
            <a:gdLst/>
            <a:ahLst/>
            <a:cxnLst/>
            <a:rect r="r" b="b" t="t" l="l"/>
            <a:pathLst>
              <a:path h="2660965" w="12251082">
                <a:moveTo>
                  <a:pt x="0" y="0"/>
                </a:moveTo>
                <a:lnTo>
                  <a:pt x="12251082" y="0"/>
                </a:lnTo>
                <a:lnTo>
                  <a:pt x="12251082" y="2660965"/>
                </a:lnTo>
                <a:lnTo>
                  <a:pt x="0" y="2660965"/>
                </a:lnTo>
                <a:lnTo>
                  <a:pt x="0" y="0"/>
                </a:lnTo>
                <a:close/>
              </a:path>
            </a:pathLst>
          </a:custGeom>
          <a:blipFill>
            <a:blip r:embed="rId9"/>
            <a:stretch>
              <a:fillRect l="0" t="0" r="0" b="0"/>
            </a:stretch>
          </a:blipFill>
        </p:spPr>
      </p:sp>
      <p:sp>
        <p:nvSpPr>
          <p:cNvPr name="Freeform 7" id="7"/>
          <p:cNvSpPr/>
          <p:nvPr/>
        </p:nvSpPr>
        <p:spPr>
          <a:xfrm flipH="false" flipV="false" rot="0">
            <a:off x="5798488" y="6112374"/>
            <a:ext cx="12489512" cy="2200533"/>
          </a:xfrm>
          <a:custGeom>
            <a:avLst/>
            <a:gdLst/>
            <a:ahLst/>
            <a:cxnLst/>
            <a:rect r="r" b="b" t="t" l="l"/>
            <a:pathLst>
              <a:path h="2200533" w="12489512">
                <a:moveTo>
                  <a:pt x="0" y="0"/>
                </a:moveTo>
                <a:lnTo>
                  <a:pt x="12489512" y="0"/>
                </a:lnTo>
                <a:lnTo>
                  <a:pt x="12489512" y="2200533"/>
                </a:lnTo>
                <a:lnTo>
                  <a:pt x="0" y="2200533"/>
                </a:lnTo>
                <a:lnTo>
                  <a:pt x="0" y="0"/>
                </a:lnTo>
                <a:close/>
              </a:path>
            </a:pathLst>
          </a:custGeom>
          <a:blipFill>
            <a:blip r:embed="rId10"/>
            <a:stretch>
              <a:fillRect l="0" t="0" r="0" b="0"/>
            </a:stretch>
          </a:blipFill>
        </p:spPr>
      </p:sp>
      <p:sp>
        <p:nvSpPr>
          <p:cNvPr name="TextBox 8" id="8"/>
          <p:cNvSpPr txBox="true"/>
          <p:nvPr/>
        </p:nvSpPr>
        <p:spPr>
          <a:xfrm rot="0">
            <a:off x="1097280" y="685800"/>
            <a:ext cx="13258800" cy="819150"/>
          </a:xfrm>
          <a:prstGeom prst="rect">
            <a:avLst/>
          </a:prstGeom>
        </p:spPr>
        <p:txBody>
          <a:bodyPr anchor="t" rtlCol="false" tIns="0" lIns="0" bIns="0" rIns="0">
            <a:spAutoFit/>
          </a:bodyPr>
          <a:lstStyle/>
          <a:p>
            <a:pPr algn="l">
              <a:lnSpc>
                <a:spcPts val="6480"/>
              </a:lnSpc>
            </a:pPr>
            <a:r>
              <a:rPr lang="en-US" sz="5400" b="true">
                <a:solidFill>
                  <a:srgbClr val="144778"/>
                </a:solidFill>
                <a:latin typeface="Milk Tea Font TH Bold"/>
                <a:ea typeface="Milk Tea Font TH Bold"/>
                <a:cs typeface="Milk Tea Font TH Bold"/>
                <a:sym typeface="Milk Tea Font TH Bold"/>
              </a:rPr>
              <a:t>Sample outputs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Freeform 2" id="2"/>
          <p:cNvSpPr/>
          <p:nvPr/>
        </p:nvSpPr>
        <p:spPr>
          <a:xfrm flipH="false" flipV="false" rot="-8216460">
            <a:off x="14075778" y="-340814"/>
            <a:ext cx="5921521" cy="3865140"/>
          </a:xfrm>
          <a:custGeom>
            <a:avLst/>
            <a:gdLst/>
            <a:ahLst/>
            <a:cxnLst/>
            <a:rect r="r" b="b" t="t" l="l"/>
            <a:pathLst>
              <a:path h="3865140" w="5921521">
                <a:moveTo>
                  <a:pt x="0" y="0"/>
                </a:moveTo>
                <a:lnTo>
                  <a:pt x="5921521" y="0"/>
                </a:lnTo>
                <a:lnTo>
                  <a:pt x="5921521" y="3865140"/>
                </a:lnTo>
                <a:lnTo>
                  <a:pt x="0" y="3865140"/>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3" id="3"/>
          <p:cNvSpPr/>
          <p:nvPr/>
        </p:nvSpPr>
        <p:spPr>
          <a:xfrm flipH="false" flipV="false" rot="0">
            <a:off x="15910560" y="4206240"/>
            <a:ext cx="831837" cy="842562"/>
          </a:xfrm>
          <a:custGeom>
            <a:avLst/>
            <a:gdLst/>
            <a:ahLst/>
            <a:cxnLst/>
            <a:rect r="r" b="b" t="t" l="l"/>
            <a:pathLst>
              <a:path h="842562" w="831837">
                <a:moveTo>
                  <a:pt x="0" y="0"/>
                </a:moveTo>
                <a:lnTo>
                  <a:pt x="831837" y="0"/>
                </a:lnTo>
                <a:lnTo>
                  <a:pt x="831837" y="842562"/>
                </a:lnTo>
                <a:lnTo>
                  <a:pt x="0" y="842562"/>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Freeform 4" id="4"/>
          <p:cNvSpPr/>
          <p:nvPr/>
        </p:nvSpPr>
        <p:spPr>
          <a:xfrm flipH="false" flipV="false" rot="-573300">
            <a:off x="13949391" y="6320876"/>
            <a:ext cx="4025027" cy="4114800"/>
          </a:xfrm>
          <a:custGeom>
            <a:avLst/>
            <a:gdLst/>
            <a:ahLst/>
            <a:cxnLst/>
            <a:rect r="r" b="b" t="t" l="l"/>
            <a:pathLst>
              <a:path h="4114800" w="4025027">
                <a:moveTo>
                  <a:pt x="0" y="0"/>
                </a:moveTo>
                <a:lnTo>
                  <a:pt x="4025027" y="0"/>
                </a:lnTo>
                <a:lnTo>
                  <a:pt x="402502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65" r="0" b="-65"/>
            </a:stretch>
          </a:blipFill>
        </p:spPr>
      </p:sp>
      <p:sp>
        <p:nvSpPr>
          <p:cNvPr name="TextBox 5" id="5"/>
          <p:cNvSpPr txBox="true"/>
          <p:nvPr/>
        </p:nvSpPr>
        <p:spPr>
          <a:xfrm rot="0">
            <a:off x="759215" y="2743857"/>
            <a:ext cx="12411103" cy="3555593"/>
          </a:xfrm>
          <a:prstGeom prst="rect">
            <a:avLst/>
          </a:prstGeom>
        </p:spPr>
        <p:txBody>
          <a:bodyPr anchor="t" rtlCol="false" tIns="0" lIns="0" bIns="0" rIns="0">
            <a:spAutoFit/>
          </a:bodyPr>
          <a:lstStyle/>
          <a:p>
            <a:pPr algn="just">
              <a:lnSpc>
                <a:spcPts val="3522"/>
              </a:lnSpc>
              <a:spcBef>
                <a:spcPct val="0"/>
              </a:spcBef>
            </a:pPr>
            <a:r>
              <a:rPr lang="en-US" sz="2668">
                <a:solidFill>
                  <a:srgbClr val="000000"/>
                </a:solidFill>
                <a:latin typeface="Comic Sans"/>
                <a:ea typeface="Comic Sans"/>
                <a:cs typeface="Comic Sans"/>
                <a:sym typeface="Comic Sans"/>
              </a:rPr>
              <a:t>The Shared Memory Based Data Exchange System demonstrates Inter-Process Communication using System V shared memory in Linux.</a:t>
            </a:r>
          </a:p>
          <a:p>
            <a:pPr algn="just">
              <a:lnSpc>
                <a:spcPts val="3522"/>
              </a:lnSpc>
              <a:spcBef>
                <a:spcPct val="0"/>
              </a:spcBef>
            </a:pPr>
            <a:r>
              <a:rPr lang="en-US" sz="2668">
                <a:solidFill>
                  <a:srgbClr val="000000"/>
                </a:solidFill>
                <a:latin typeface="Comic Sans"/>
                <a:ea typeface="Comic Sans"/>
                <a:cs typeface="Comic Sans"/>
                <a:sym typeface="Comic Sans"/>
              </a:rPr>
              <a:t>The project enables a parent process to send a message to a child process and receive a reply through a common memory region.</a:t>
            </a:r>
          </a:p>
          <a:p>
            <a:pPr algn="just">
              <a:lnSpc>
                <a:spcPts val="3522"/>
              </a:lnSpc>
              <a:spcBef>
                <a:spcPct val="0"/>
              </a:spcBef>
            </a:pPr>
            <a:r>
              <a:rPr lang="en-US" sz="2668">
                <a:solidFill>
                  <a:srgbClr val="000000"/>
                </a:solidFill>
                <a:latin typeface="Comic Sans"/>
                <a:ea typeface="Comic Sans"/>
                <a:cs typeface="Comic Sans"/>
                <a:sym typeface="Comic Sans"/>
              </a:rPr>
              <a:t>It demonstrates shared memory creation, process creation using fork(), message exchange, basic synchronization, and resource cleanup.</a:t>
            </a:r>
          </a:p>
          <a:p>
            <a:pPr algn="just">
              <a:lnSpc>
                <a:spcPts val="3522"/>
              </a:lnSpc>
              <a:spcBef>
                <a:spcPct val="0"/>
              </a:spcBef>
            </a:pPr>
            <a:r>
              <a:rPr lang="en-US" sz="2668">
                <a:solidFill>
                  <a:srgbClr val="000000"/>
                </a:solidFill>
                <a:latin typeface="Comic Sans"/>
                <a:ea typeface="Comic Sans"/>
                <a:cs typeface="Comic Sans"/>
                <a:sym typeface="Comic Sans"/>
              </a:rPr>
              <a:t>This project provides practical knowledge of Linux system programming and IPC mechanisms.</a:t>
            </a:r>
          </a:p>
        </p:txBody>
      </p:sp>
      <p:sp>
        <p:nvSpPr>
          <p:cNvPr name="TextBox 6" id="6"/>
          <p:cNvSpPr txBox="true"/>
          <p:nvPr/>
        </p:nvSpPr>
        <p:spPr>
          <a:xfrm rot="0">
            <a:off x="3991270" y="457594"/>
            <a:ext cx="6412468"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Conclusion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9"/>
        </a:solidFill>
      </p:bgPr>
    </p:bg>
    <p:spTree>
      <p:nvGrpSpPr>
        <p:cNvPr id="1" name=""/>
        <p:cNvGrpSpPr/>
        <p:nvPr/>
      </p:nvGrpSpPr>
      <p:grpSpPr>
        <a:xfrm>
          <a:off x="0" y="0"/>
          <a:ext cx="0" cy="0"/>
          <a:chOff x="0" y="0"/>
          <a:chExt cx="0" cy="0"/>
        </a:xfrm>
      </p:grpSpPr>
      <p:sp>
        <p:nvSpPr>
          <p:cNvPr name="Freeform 2" id="2"/>
          <p:cNvSpPr/>
          <p:nvPr/>
        </p:nvSpPr>
        <p:spPr>
          <a:xfrm flipH="false" flipV="false" rot="10169040">
            <a:off x="-952088" y="-19016"/>
            <a:ext cx="5921521" cy="3865140"/>
          </a:xfrm>
          <a:custGeom>
            <a:avLst/>
            <a:gdLst/>
            <a:ahLst/>
            <a:cxnLst/>
            <a:rect r="r" b="b" t="t" l="l"/>
            <a:pathLst>
              <a:path h="3865140" w="5921521">
                <a:moveTo>
                  <a:pt x="0" y="0"/>
                </a:moveTo>
                <a:lnTo>
                  <a:pt x="5921521" y="0"/>
                </a:lnTo>
                <a:lnTo>
                  <a:pt x="5921521" y="3865141"/>
                </a:lnTo>
                <a:lnTo>
                  <a:pt x="0" y="3865141"/>
                </a:lnTo>
                <a:lnTo>
                  <a:pt x="0" y="0"/>
                </a:lnTo>
                <a:close/>
              </a:path>
            </a:pathLst>
          </a:custGeom>
          <a:blipFill>
            <a:blip r:embed="rId3">
              <a:extLst>
                <a:ext uri="{96DAC541-7B7A-43D3-8B79-37D633B846F1}">
                  <asvg:svgBlip xmlns:asvg="http://schemas.microsoft.com/office/drawing/2016/SVG/main" r:embed="rId4"/>
                </a:ext>
              </a:extLst>
            </a:blip>
            <a:stretch>
              <a:fillRect l="0" t="-123" r="0" b="-123"/>
            </a:stretch>
          </a:blipFill>
        </p:spPr>
      </p:sp>
      <p:sp>
        <p:nvSpPr>
          <p:cNvPr name="Freeform 3" id="3"/>
          <p:cNvSpPr/>
          <p:nvPr/>
        </p:nvSpPr>
        <p:spPr>
          <a:xfrm flipH="false" flipV="false" rot="-694080">
            <a:off x="14874421" y="8254860"/>
            <a:ext cx="4769749" cy="3113351"/>
          </a:xfrm>
          <a:custGeom>
            <a:avLst/>
            <a:gdLst/>
            <a:ahLst/>
            <a:cxnLst/>
            <a:rect r="r" b="b" t="t" l="l"/>
            <a:pathLst>
              <a:path h="3113351" w="4769749">
                <a:moveTo>
                  <a:pt x="0" y="0"/>
                </a:moveTo>
                <a:lnTo>
                  <a:pt x="4769749" y="0"/>
                </a:lnTo>
                <a:lnTo>
                  <a:pt x="4769749" y="3113351"/>
                </a:lnTo>
                <a:lnTo>
                  <a:pt x="0" y="3113351"/>
                </a:lnTo>
                <a:lnTo>
                  <a:pt x="0" y="0"/>
                </a:lnTo>
                <a:close/>
              </a:path>
            </a:pathLst>
          </a:custGeom>
          <a:blipFill>
            <a:blip r:embed="rId3">
              <a:extLst>
                <a:ext uri="{96DAC541-7B7A-43D3-8B79-37D633B846F1}">
                  <asvg:svgBlip xmlns:asvg="http://schemas.microsoft.com/office/drawing/2016/SVG/main" r:embed="rId4"/>
                </a:ext>
              </a:extLst>
            </a:blip>
            <a:stretch>
              <a:fillRect l="0" t="-150" r="0" b="-150"/>
            </a:stretch>
          </a:blipFill>
        </p:spPr>
      </p:sp>
      <p:sp>
        <p:nvSpPr>
          <p:cNvPr name="Freeform 4" id="4"/>
          <p:cNvSpPr/>
          <p:nvPr/>
        </p:nvSpPr>
        <p:spPr>
          <a:xfrm flipH="false" flipV="false" rot="0">
            <a:off x="2887539" y="7827242"/>
            <a:ext cx="831837" cy="842562"/>
          </a:xfrm>
          <a:custGeom>
            <a:avLst/>
            <a:gdLst/>
            <a:ahLst/>
            <a:cxnLst/>
            <a:rect r="r" b="b" t="t" l="l"/>
            <a:pathLst>
              <a:path h="842562" w="831837">
                <a:moveTo>
                  <a:pt x="0" y="0"/>
                </a:moveTo>
                <a:lnTo>
                  <a:pt x="831837" y="0"/>
                </a:lnTo>
                <a:lnTo>
                  <a:pt x="831837" y="842563"/>
                </a:lnTo>
                <a:lnTo>
                  <a:pt x="0" y="842563"/>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Freeform 5" id="5"/>
          <p:cNvSpPr/>
          <p:nvPr/>
        </p:nvSpPr>
        <p:spPr>
          <a:xfrm flipH="false" flipV="false" rot="0">
            <a:off x="14266981" y="1559293"/>
            <a:ext cx="831837" cy="842562"/>
          </a:xfrm>
          <a:custGeom>
            <a:avLst/>
            <a:gdLst/>
            <a:ahLst/>
            <a:cxnLst/>
            <a:rect r="r" b="b" t="t" l="l"/>
            <a:pathLst>
              <a:path h="842562" w="831837">
                <a:moveTo>
                  <a:pt x="0" y="0"/>
                </a:moveTo>
                <a:lnTo>
                  <a:pt x="831837" y="0"/>
                </a:lnTo>
                <a:lnTo>
                  <a:pt x="831837" y="842563"/>
                </a:lnTo>
                <a:lnTo>
                  <a:pt x="0" y="842563"/>
                </a:lnTo>
                <a:lnTo>
                  <a:pt x="0" y="0"/>
                </a:lnTo>
                <a:close/>
              </a:path>
            </a:pathLst>
          </a:custGeom>
          <a:blipFill>
            <a:blip r:embed="rId5">
              <a:extLst>
                <a:ext uri="{96DAC541-7B7A-43D3-8B79-37D633B846F1}">
                  <asvg:svgBlip xmlns:asvg="http://schemas.microsoft.com/office/drawing/2016/SVG/main" r:embed="rId6"/>
                </a:ext>
              </a:extLst>
            </a:blip>
            <a:stretch>
              <a:fillRect l="-75" t="0" r="-75" b="0"/>
            </a:stretch>
          </a:blipFill>
        </p:spPr>
      </p:sp>
      <p:sp>
        <p:nvSpPr>
          <p:cNvPr name="TextBox 6" id="6"/>
          <p:cNvSpPr txBox="true"/>
          <p:nvPr/>
        </p:nvSpPr>
        <p:spPr>
          <a:xfrm rot="0">
            <a:off x="4819320" y="3560012"/>
            <a:ext cx="9447660" cy="1816366"/>
          </a:xfrm>
          <a:prstGeom prst="rect">
            <a:avLst/>
          </a:prstGeom>
        </p:spPr>
        <p:txBody>
          <a:bodyPr anchor="t" rtlCol="false" tIns="0" lIns="0" bIns="0" rIns="0">
            <a:spAutoFit/>
          </a:bodyPr>
          <a:lstStyle/>
          <a:p>
            <a:pPr algn="ctr">
              <a:lnSpc>
                <a:spcPts val="14752"/>
              </a:lnSpc>
              <a:spcBef>
                <a:spcPct val="0"/>
              </a:spcBef>
            </a:pPr>
            <a:r>
              <a:rPr lang="en-US" b="true" sz="11175">
                <a:solidFill>
                  <a:srgbClr val="000000"/>
                </a:solidFill>
                <a:latin typeface="Comic Sans Bold"/>
                <a:ea typeface="Comic Sans Bold"/>
                <a:cs typeface="Comic Sans Bold"/>
                <a:sym typeface="Comic Sa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DAHYPKY5DXs</dc:identifier>
  <dcterms:modified xsi:type="dcterms:W3CDTF">2011-08-01T06:04:30Z</dcterms:modified>
  <cp:revision>1</cp:revision>
  <dc:title>shared-memory-data-exchange-template.pptx</dc:title>
</cp:coreProperties>
</file>